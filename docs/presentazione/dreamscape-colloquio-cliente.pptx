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8288000" cy="10287000"/>
  <p:notesSz cx="6858000" cy="9144000"/>
  <p:embeddedFontLst>
    <p:embeddedFont>
      <p:font typeface="Georgia" charset="1" panose="02040502050405020303"/>
      <p:regular r:id="rId29"/>
    </p:embeddedFont>
    <p:embeddedFont>
      <p:font typeface="Arial" charset="1" panose="020B0604020202020204"/>
      <p:regular r:id="rId30"/>
    </p:embeddedFont>
    <p:embeddedFont>
      <p:font typeface="Arial Bold" charset="1" panose="020B0704020202020204"/>
      <p:regular r:id="rId32"/>
    </p:embeddedFont>
    <p:embeddedFont>
      <p:font typeface="Georgia Pro" charset="1" panose="02040502050405020303"/>
      <p:regular r:id="rId35"/>
    </p:embeddedFont>
    <p:embeddedFont>
      <p:font typeface="Helvetica World Bold" charset="1" panose="020B0800040000020004"/>
      <p:regular r:id="rId37"/>
    </p:embeddedFont>
    <p:embeddedFont>
      <p:font typeface="Helvetica World" charset="1" panose="020B0500040000020004"/>
      <p:regular r:id="rId38"/>
    </p:embeddedFont>
    <p:embeddedFont>
      <p:font typeface="Antonio Bold" charset="1" panose="02000803000000000000"/>
      <p:regular r:id="rId4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notesMasters/notesMaster1.xml" Type="http://schemas.openxmlformats.org/officeDocument/2006/relationships/notesMaster"/><Relationship Id="rId27" Target="theme/theme2.xml" Type="http://schemas.openxmlformats.org/officeDocument/2006/relationships/theme"/><Relationship Id="rId28" Target="notesSlides/notesSlide1.xml" Type="http://schemas.openxmlformats.org/officeDocument/2006/relationships/notesSlide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notesSlides/notesSlide2.xml" Type="http://schemas.openxmlformats.org/officeDocument/2006/relationships/notesSlide"/><Relationship Id="rId32" Target="fonts/font32.fntdata" Type="http://schemas.openxmlformats.org/officeDocument/2006/relationships/font"/><Relationship Id="rId33" Target="notesSlides/notesSlide3.xml" Type="http://schemas.openxmlformats.org/officeDocument/2006/relationships/notesSlide"/><Relationship Id="rId34" Target="notesSlides/notesSlide4.xml" Type="http://schemas.openxmlformats.org/officeDocument/2006/relationships/notesSlide"/><Relationship Id="rId35" Target="fonts/font35.fntdata" Type="http://schemas.openxmlformats.org/officeDocument/2006/relationships/font"/><Relationship Id="rId36" Target="notesSlides/notesSlide5.xml" Type="http://schemas.openxmlformats.org/officeDocument/2006/relationships/notesSlide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39" Target="notesSlides/notesSlide6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7.xml" Type="http://schemas.openxmlformats.org/officeDocument/2006/relationships/notesSlide"/><Relationship Id="rId41" Target="notesSlides/notesSlide8.xml" Type="http://schemas.openxmlformats.org/officeDocument/2006/relationships/notesSlide"/><Relationship Id="rId42" Target="notesSlides/notesSlide9.xml" Type="http://schemas.openxmlformats.org/officeDocument/2006/relationships/notesSlide"/><Relationship Id="rId43" Target="fonts/font43.fntdata" Type="http://schemas.openxmlformats.org/officeDocument/2006/relationships/font"/><Relationship Id="rId44" Target="notesSlides/notesSlide10.xml" Type="http://schemas.openxmlformats.org/officeDocument/2006/relationships/notesSlide"/><Relationship Id="rId45" Target="notesSlides/notesSlide11.xml" Type="http://schemas.openxmlformats.org/officeDocument/2006/relationships/notesSlide"/><Relationship Id="rId46" Target="notesSlides/notesSlide12.xml" Type="http://schemas.openxmlformats.org/officeDocument/2006/relationships/notesSlide"/><Relationship Id="rId47" Target="notesSlides/notesSlide13.xml" Type="http://schemas.openxmlformats.org/officeDocument/2006/relationships/notesSlide"/><Relationship Id="rId48" Target="notesSlides/notesSlide14.xml" Type="http://schemas.openxmlformats.org/officeDocument/2006/relationships/notesSlide"/><Relationship Id="rId49" Target="notesSlides/notesSlide15.xml" Type="http://schemas.openxmlformats.org/officeDocument/2006/relationships/notesSlide"/><Relationship Id="rId5" Target="tableStyles.xml" Type="http://schemas.openxmlformats.org/officeDocument/2006/relationships/tableStyles"/><Relationship Id="rId50" Target="notesSlides/notesSlide16.xml" Type="http://schemas.openxmlformats.org/officeDocument/2006/relationships/notesSlide"/><Relationship Id="rId51" Target="notesSlides/notesSlide17.xml" Type="http://schemas.openxmlformats.org/officeDocument/2006/relationships/notesSlide"/><Relationship Id="rId52" Target="notesSlides/notesSlide18.xml" Type="http://schemas.openxmlformats.org/officeDocument/2006/relationships/notesSlide"/><Relationship Id="rId53" Target="notesSlides/notesSlide19.xml" Type="http://schemas.openxmlformats.org/officeDocument/2006/relationships/notesSlide"/><Relationship Id="rId54" Target="notesSlides/notesSlide20.xml" Type="http://schemas.openxmlformats.org/officeDocument/2006/relationships/notesSlide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Cristian, 10 secondi. «Buongiorno, siamo Somnia e oggi vi presentiamo Dreamscape, il gioco di carte collezionabili che vorremmo costruire per voi.»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Cristian, 40 secondi. Somnia viene dal latino «sogni». Siamo 10 persone in tre team con competenze diverse che lavorano allo stesso prodotto: Software Development per motore di gioco, backend e database; Web Development per il portale; Digital Strategy per concept, lore, immagine ed economia di gioco. Cristian è il Project Leader e coordina tutto il progetto, Marco è il suo vice; Gaia e Sara sono le Group Leader di Web e Digital. Lavoriamo tutti sulla stessa board.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Cristian, 40 secondi. Ripassiamo cosa ci avete chiesto: registrazione con crediti virtuali e pacchetti casuali; collezione e più mazzi con regole; scambi solo se l'altro accetta; sfide simulate dal server, round per round, con storico; creature con attacco, difesa e fazioni; backoffice. «Abbiamo coperto tutte le richieste obbligatorie e ne aggiungiamo alcune.» Poi si passa al concept di Digital.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Cristian, 30 secondi (slide di Digital). Dreamscape è un gioco di carte collezionabili digitale in cui sogni, incubi e ricordi prendono forma e diventano creature da collezionare e strategie da costruire. Il nostro pubblico: 18–30 anni, giovani adulti abituati al gaming digitale e agli universi fantasy, che giocano soprattutto da smartphone e da PC.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Cristian, 25 secondi (slide di Digital). Tre giochi a confronto: in Hearthstone si decide durante i turni, Marvel Snap punta su collezionismo e accessibilità, Super Auto Pets su sinergie e combattimenti automatici. Dreamscape si decide nel mazzo, prima dello scontro automatico, con un immaginario costruito su emozioni che tutti riconoscono: sogni, paure e ricordi.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Cristian, 20 secondi (slide di Digital). La direzione visiva si chiama «La Soglia», il passaggio tra veglia e sogno. Il logo, tre colori (nero, bianco lavanda e viola), Georgia per i titoli e Arial per i testi.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Cristian, 25 secondi (slide di Digital). Le tre fazioni: Dreams, i sogni, con la luna; Nightmares, gli incubi, con l'occhio; Memories, i ricordi, con la clessidra. Ognuna ha la sua cornice. Nel ciclo dei vantaggi Dreams batte Memories, Memories batte Nightmares e Nightmares batte Dreams.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Cristian, 15 secondi (slide di Digital). Ogni fazione ha quattro cornici, una per rarità: Comune, Rara, Epica e Leggendaria. La rarità si riconosce a colpo d'occhio dalle decorazioni della cornice.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Cristian, 25 secondi (slide di Digital). Tre proposte per il retro delle carte: la prima con il doppio logo, la seconda con il vortice viola, la terza con il simbolo come un monolite che si specchia su un lago. È una delle scelte che chiediamo a voi alla fine della presentazione.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Marco, 30 secondi. Ogni fazione ha un Lord, la sua Leggendaria più iconica: Il Sogno Lucido per Dreams, L'Uomo Senza Volto per Nightmares, La Custode del Tempo Fermo per Memories. Sono anche le copertine dei pacchetti: il contenuto è lo stesso, il giocatore sceglie quella che preferisce. Queste sono le versioni full art, copie rare delle Leggendarie.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Marco, 35 secondi. Mazzo di 20 carte, al massimo 2 copie e 1 per le Leggendarie. I limiti per rarità sono il vincolo di bilanciamento chiesto dal brief. 20 punti vita, da verificare con le simulazioni. Chi ha il vantaggio di fazione attacca con +1. La partita finisce a punti vita zero, a mazzo esaurito o dopo 60 round, con pareggio. 23 effetti dalla lista di Nicolas. «La strategia sta nella costruzione del mazzo.»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Marco, 25 secondi. Seguire i numeri senza leggerli tutti. Il Faro nella Nebbia del giocatore A incontra L'Uomo Senza Volto del giocatore B. Indebolimento toglie 2 di attacco al Faro; Nightmares è forte contro Dreams, quindi l'Uomo attacca con 9. Le creature si colpiscono insieme: il Faro muore. Il danno al giocatore è l'attacco della vincitrice meno la difesa della sconfitta: 9 meno 7, quindi 2 punti vita.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Marco, 35 secondi. A sinistra le richieste del brief: le facciamo tutte. A destra quello che aggiungiamo noi: lista amici con scambi in quantità libere, effetti già nella Base, Lord e copertine, full art, set iniziale e pacchetti di benvenuto, e il rank con le leghe a tema.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Marco, 50 secondi. Il frontend parla con il backend tramite API REST, con l'accesso protetto da token JWT. Il backend è in Spring Boot 4, con il motore di gioco come modulo Java separato, e salva tutto in PostgreSQL. Il motore simula le partite sul server: con migliaia di partite di prova bilanciamo le carte. Tutto quello che conta succede sul server, e scambi e acquisti sono transazioni. Il frontend è in HTML, CSS e JavaScript senza framework, pensato prima per smartphone. «Il backend manda solo i dati: la carta la monta il frontend, quindi se cambiamo una statistica tutte le carte si aggiornano da sole.»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Bozza di riserva per Web Development. Marco, 15 secondi. Quattro aree: pagine pubbliche, accesso, area del Dreamweaver dopo l'accesso, backoffice per l'admin. Circa 30 pagine in tutto.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Bozza di riserva per Web Development. Marco, 20 secondi. Il pubblico gioca soprattutto da smartphone, quindi i wireframe partono dal telefono. La collezione: ricerca in alto e filtri a scorrimento, miniature leggere due per riga con il bordo della fazione e le copie possedute, menu delle sezioni in basso a portata di pollice. Su tablet e PC la stessa pagina si allarga a più colonne.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Bozza di riserva per Web Development. Marco, 20 secondi. Sempre da smartphone: nel negozio il giocatore sceglie la copertina con il Lord e apre il pacchetto con un tocco; nella pagina dell'apertura rivela le carte una alla volta. L'id dell'apertura è nell'indirizzo: ricaricando la pagina non si compra un altro pacchetto.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Cristian, 60 secondi. Lavoriamo con metodo agile: una board Kanban su GitHub Projects dove ogni attività passa da Backlog a Done. Ogni attività è una issue con team, tipo, priorità, sprint e responsabile; ogni issue ha il suo branch e una pull request rivista da un'altra persona. Oggi sulla board ci sono 73 issue: 25 di Software, 23 di Web, 14 di Digital e 11 comuni. Gli sprint durano una settimana: nei primi due abbiamo costruito le fondamenta; poi basi e accesso, catalogo, pacchetti e mazzi, gli effetti fino al SAL del 23 novembre. Nello sprint 6 amici, scambi, sfide e il rank con le leghe; nel 7 backoffice e rifinitura; l'8 porta alla consegna del 10 dicembre.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Cristian, 30 secondi. Questa è la nostra board vera su GitHub Projects: le colonne Backlog, Todo, In Progress, Review e Done. Ogni scheda è una issue con team, responsabile, priorità e sprint. Il cliente può seguire l'avanzamento in ogni momento.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Marco, 45 secondi. «Le vostre risposte ci servono per partire con lo sviluppo.» Leggere le quattro domande e lasciare che il cliente risponda durante il tempo delle domande; il note-taker segna le risposte. Le nostre proposte, se il cliente chiede: 1) una delle tre proposte di Digital; 2) oggi 20 punti vita, da confermare con le simulazioni; 3) circa 30 carte alla consegna (oggi 12 di prova); 4) ricompensa giornaliera più un premio per le vittorie. «Grazie: ora siamo a disposizione per le vostre domande.»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3.pn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Relationship Id="rId6" Target="../media/image16.jpeg" Type="http://schemas.openxmlformats.org/officeDocument/2006/relationships/image"/><Relationship Id="rId7" Target="../media/image17.jpeg" Type="http://schemas.openxmlformats.org/officeDocument/2006/relationships/image"/><Relationship Id="rId8" Target="../media/image18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jpeg" Type="http://schemas.openxmlformats.org/officeDocument/2006/relationships/image"/><Relationship Id="rId11" Target="../media/image24.jpeg" Type="http://schemas.openxmlformats.org/officeDocument/2006/relationships/image"/><Relationship Id="rId12" Target="../media/image25.jpeg" Type="http://schemas.openxmlformats.org/officeDocument/2006/relationships/image"/><Relationship Id="rId13" Target="../media/image26.jpeg" Type="http://schemas.openxmlformats.org/officeDocument/2006/relationships/image"/><Relationship Id="rId14" Target="../media/image27.jpeg" Type="http://schemas.openxmlformats.org/officeDocument/2006/relationships/image"/><Relationship Id="rId15" Target="../media/image28.jpeg" Type="http://schemas.openxmlformats.org/officeDocument/2006/relationships/image"/><Relationship Id="rId16" Target="../media/image29.jpeg" Type="http://schemas.openxmlformats.org/officeDocument/2006/relationships/image"/><Relationship Id="rId17" Target="../media/image30.jpeg" Type="http://schemas.openxmlformats.org/officeDocument/2006/relationships/image"/><Relationship Id="rId2" Target="../notesSlides/notesSlide8.xml" Type="http://schemas.openxmlformats.org/officeDocument/2006/relationships/notesSlide"/><Relationship Id="rId3" Target="../media/image14.png" Type="http://schemas.openxmlformats.org/officeDocument/2006/relationships/image"/><Relationship Id="rId4" Target="../media/image19.jpeg" Type="http://schemas.openxmlformats.org/officeDocument/2006/relationships/image"/><Relationship Id="rId5" Target="../media/image20.jpeg" Type="http://schemas.openxmlformats.org/officeDocument/2006/relationships/image"/><Relationship Id="rId6" Target="../media/image21.jpeg" Type="http://schemas.openxmlformats.org/officeDocument/2006/relationships/image"/><Relationship Id="rId7" Target="../media/image22.jpeg" Type="http://schemas.openxmlformats.org/officeDocument/2006/relationships/image"/><Relationship Id="rId8" Target="../media/image13.pn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31.jpeg" Type="http://schemas.openxmlformats.org/officeDocument/2006/relationships/image"/><Relationship Id="rId4" Target="../media/image32.jpeg" Type="http://schemas.openxmlformats.org/officeDocument/2006/relationships/image"/><Relationship Id="rId5" Target="../media/image3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34.png" Type="http://schemas.openxmlformats.org/officeDocument/2006/relationships/image"/><Relationship Id="rId4" Target="../media/image35.jpeg" Type="http://schemas.openxmlformats.org/officeDocument/2006/relationships/image"/><Relationship Id="rId5" Target="../media/image36.png" Type="http://schemas.openxmlformats.org/officeDocument/2006/relationships/image"/><Relationship Id="rId6" Target="../media/image37.png" Type="http://schemas.openxmlformats.org/officeDocument/2006/relationships/image"/><Relationship Id="rId7" Target="../media/image38.png" Type="http://schemas.openxmlformats.org/officeDocument/2006/relationships/image"/><Relationship Id="rId8" Target="../media/image39.png" Type="http://schemas.openxmlformats.org/officeDocument/2006/relationships/image"/><Relationship Id="rId9" Target="../media/image4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41.png" Type="http://schemas.openxmlformats.org/officeDocument/2006/relationships/image"/><Relationship Id="rId4" Target="../media/image35.jpeg" Type="http://schemas.openxmlformats.org/officeDocument/2006/relationships/image"/><Relationship Id="rId5" Target="../media/image4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35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Relationship Id="rId3" Target="../media/image35.jpeg" Type="http://schemas.openxmlformats.org/officeDocument/2006/relationships/image"/><Relationship Id="rId4" Target="../media/image36.png" Type="http://schemas.openxmlformats.org/officeDocument/2006/relationships/image"/><Relationship Id="rId5" Target="../media/image38.png" Type="http://schemas.openxmlformats.org/officeDocument/2006/relationships/image"/><Relationship Id="rId6" Target="../media/image40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8.xml" Type="http://schemas.openxmlformats.org/officeDocument/2006/relationships/notesSlid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9.xml" Type="http://schemas.openxmlformats.org/officeDocument/2006/relationships/notesSlide"/><Relationship Id="rId3" Target="../media/image43.png" Type="http://schemas.openxmlformats.org/officeDocument/2006/relationships/image"/><Relationship Id="rId4" Target="../media/image44.png" Type="http://schemas.openxmlformats.org/officeDocument/2006/relationships/image"/><Relationship Id="rId5" Target="../media/image45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0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el-001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4" r="-1024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 descr="el-002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4" r="-909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5181600" y="1428750"/>
            <a:ext cx="7924800" cy="5276850"/>
            <a:chOff x="0" y="0"/>
            <a:chExt cx="10566400" cy="7035800"/>
          </a:xfrm>
        </p:grpSpPr>
        <p:sp>
          <p:nvSpPr>
            <p:cNvPr name="Freeform 7" id="7" descr="el-003.png"/>
            <p:cNvSpPr/>
            <p:nvPr/>
          </p:nvSpPr>
          <p:spPr>
            <a:xfrm flipH="false" flipV="false" rot="0">
              <a:off x="0" y="0"/>
              <a:ext cx="10566400" cy="7035800"/>
            </a:xfrm>
            <a:custGeom>
              <a:avLst/>
              <a:gdLst/>
              <a:ahLst/>
              <a:cxnLst/>
              <a:rect r="r" b="b" t="t" l="l"/>
              <a:pathLst>
                <a:path h="7035800" w="10566400">
                  <a:moveTo>
                    <a:pt x="0" y="0"/>
                  </a:moveTo>
                  <a:lnTo>
                    <a:pt x="10566400" y="0"/>
                  </a:lnTo>
                  <a:lnTo>
                    <a:pt x="10566400" y="7035800"/>
                  </a:lnTo>
                  <a:lnTo>
                    <a:pt x="0" y="703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36" r="0" b="-37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6340069" y="7229475"/>
            <a:ext cx="5607872" cy="653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900">
                <a:solidFill>
                  <a:srgbClr val="E9E7F2"/>
                </a:solidFill>
                <a:latin typeface="Georgia"/>
                <a:ea typeface="Georgia"/>
                <a:cs typeface="Georgia"/>
                <a:sym typeface="Georgia"/>
              </a:rPr>
              <a:t>Una proposta di Somnia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770131" y="8077200"/>
            <a:ext cx="6747748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>
                <a:solidFill>
                  <a:srgbClr val="B9B9B9"/>
                </a:solidFill>
                <a:latin typeface="Arial"/>
                <a:ea typeface="Arial"/>
                <a:cs typeface="Arial"/>
                <a:sym typeface="Arial"/>
              </a:rPr>
              <a:t>Laboratorio Integrato · Gruppo 5 · 2 novembre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el-001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4" r="-1024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 descr="el-002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4" r="-909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857250" y="676275"/>
            <a:ext cx="3529346" cy="925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59"/>
              </a:lnSpc>
            </a:pPr>
            <a:r>
              <a:rPr lang="en-US" sz="5550">
                <a:solidFill>
                  <a:srgbClr val="E9E7F2"/>
                </a:solidFill>
                <a:latin typeface="Georgia"/>
                <a:ea typeface="Georgia"/>
                <a:cs typeface="Georgia"/>
                <a:sym typeface="Georgia"/>
              </a:rPr>
              <a:t>Chi siamo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57250" y="1704975"/>
            <a:ext cx="10302288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>
                <a:solidFill>
                  <a:srgbClr val="B9B9B9"/>
                </a:solidFill>
                <a:latin typeface="Arial"/>
                <a:ea typeface="Arial"/>
                <a:cs typeface="Arial"/>
                <a:sym typeface="Arial"/>
              </a:rPr>
              <a:t>Somnia, dal latino «sogni»: 10 persone, 3 competenze, un'unica board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57250" y="3228975"/>
            <a:ext cx="4668564" cy="579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0"/>
              </a:lnSpc>
            </a:pPr>
            <a:r>
              <a:rPr lang="en-US" sz="3450">
                <a:solidFill>
                  <a:srgbClr val="BCA4EE"/>
                </a:solidFill>
                <a:latin typeface="Georgia"/>
                <a:ea typeface="Georgia"/>
                <a:cs typeface="Georgia"/>
                <a:sym typeface="Georgia"/>
              </a:rPr>
              <a:t>Software Development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57250" y="4171950"/>
            <a:ext cx="2020044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E9E7F2"/>
                </a:solidFill>
                <a:latin typeface="Arial Bold"/>
                <a:ea typeface="Arial Bold"/>
                <a:cs typeface="Arial Bold"/>
                <a:sym typeface="Arial Bold"/>
              </a:rPr>
              <a:t>Cristian</a:t>
            </a:r>
            <a:r>
              <a:rPr lang="en-US" sz="2700">
                <a:solidFill>
                  <a:srgbClr val="B9B9B9"/>
                </a:solidFill>
                <a:latin typeface="Arial"/>
                <a:ea typeface="Arial"/>
                <a:cs typeface="Arial"/>
                <a:sym typeface="Arial"/>
              </a:rPr>
              <a:t> (PL)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57250" y="4724400"/>
            <a:ext cx="251564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E9E7F2"/>
                </a:solidFill>
                <a:latin typeface="Arial Bold"/>
                <a:ea typeface="Arial Bold"/>
                <a:cs typeface="Arial Bold"/>
                <a:sym typeface="Arial Bold"/>
              </a:rPr>
              <a:t>Marco</a:t>
            </a:r>
            <a:r>
              <a:rPr lang="en-US" sz="2700">
                <a:solidFill>
                  <a:srgbClr val="B9B9B9"/>
                </a:solidFill>
                <a:latin typeface="Arial"/>
                <a:ea typeface="Arial"/>
                <a:cs typeface="Arial"/>
                <a:sym typeface="Arial"/>
              </a:rPr>
              <a:t> (Vice PL)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57250" y="5276850"/>
            <a:ext cx="1425483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E9E7F2"/>
                </a:solidFill>
                <a:latin typeface="Arial Bold"/>
                <a:ea typeface="Arial Bold"/>
                <a:cs typeface="Arial Bold"/>
                <a:sym typeface="Arial Bold"/>
              </a:rPr>
              <a:t>Nicolas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57250" y="6762750"/>
            <a:ext cx="4476750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250">
                <a:solidFill>
                  <a:srgbClr val="B9B9B9"/>
                </a:solidFill>
                <a:latin typeface="Arial"/>
                <a:ea typeface="Arial"/>
                <a:cs typeface="Arial"/>
                <a:sym typeface="Arial"/>
              </a:rPr>
              <a:t>Motore di gioco, backend, database</a:t>
            </a:r>
          </a:p>
        </p:txBody>
      </p:sp>
      <p:sp>
        <p:nvSpPr>
          <p:cNvPr name="AutoShape 13" id="13"/>
          <p:cNvSpPr/>
          <p:nvPr/>
        </p:nvSpPr>
        <p:spPr>
          <a:xfrm>
            <a:off x="5810250" y="3133725"/>
            <a:ext cx="0" cy="5448300"/>
          </a:xfrm>
          <a:prstGeom prst="line">
            <a:avLst/>
          </a:prstGeom>
          <a:ln cap="rnd" w="19050">
            <a:solidFill>
              <a:srgbClr val="34323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6191250" y="3228975"/>
            <a:ext cx="3842328" cy="579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0"/>
              </a:lnSpc>
            </a:pPr>
            <a:r>
              <a:rPr lang="en-US" sz="3450">
                <a:solidFill>
                  <a:srgbClr val="BCA4EE"/>
                </a:solidFill>
                <a:latin typeface="Georgia"/>
                <a:ea typeface="Georgia"/>
                <a:cs typeface="Georgia"/>
                <a:sym typeface="Georgia"/>
              </a:rPr>
              <a:t>Web Development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191250" y="4171950"/>
            <a:ext cx="1524595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E9E7F2"/>
                </a:solidFill>
                <a:latin typeface="Arial Bold"/>
                <a:ea typeface="Arial Bold"/>
                <a:cs typeface="Arial Bold"/>
                <a:sym typeface="Arial Bold"/>
              </a:rPr>
              <a:t>Gaia</a:t>
            </a:r>
            <a:r>
              <a:rPr lang="en-US" sz="2700">
                <a:solidFill>
                  <a:srgbClr val="B9B9B9"/>
                </a:solidFill>
                <a:latin typeface="Arial"/>
                <a:ea typeface="Arial"/>
                <a:cs typeface="Arial"/>
                <a:sym typeface="Arial"/>
              </a:rPr>
              <a:t> (GL)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191250" y="4724400"/>
            <a:ext cx="2073269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E9E7F2"/>
                </a:solidFill>
                <a:latin typeface="Arial Bold"/>
                <a:ea typeface="Arial Bold"/>
                <a:cs typeface="Arial Bold"/>
                <a:sym typeface="Arial Bold"/>
              </a:rPr>
              <a:t>Alessandro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191250" y="5276850"/>
            <a:ext cx="1425483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E9E7F2"/>
                </a:solidFill>
                <a:latin typeface="Arial Bold"/>
                <a:ea typeface="Arial Bold"/>
                <a:cs typeface="Arial Bold"/>
                <a:sym typeface="Arial Bold"/>
              </a:rPr>
              <a:t>Daniele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191250" y="5829300"/>
            <a:ext cx="872623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E9E7F2"/>
                </a:solidFill>
                <a:latin typeface="Arial Bold"/>
                <a:ea typeface="Arial Bold"/>
                <a:cs typeface="Arial Bold"/>
                <a:sym typeface="Arial Bold"/>
              </a:rPr>
              <a:t>Yuri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191250" y="6762750"/>
            <a:ext cx="4476750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250">
                <a:solidFill>
                  <a:srgbClr val="B9B9B9"/>
                </a:solidFill>
                <a:latin typeface="Arial"/>
                <a:ea typeface="Arial"/>
                <a:cs typeface="Arial"/>
                <a:sym typeface="Arial"/>
              </a:rPr>
              <a:t>Portale, interfaccia, frontend</a:t>
            </a:r>
          </a:p>
        </p:txBody>
      </p:sp>
      <p:sp>
        <p:nvSpPr>
          <p:cNvPr name="AutoShape 20" id="20"/>
          <p:cNvSpPr/>
          <p:nvPr/>
        </p:nvSpPr>
        <p:spPr>
          <a:xfrm>
            <a:off x="11144250" y="3133725"/>
            <a:ext cx="0" cy="5448300"/>
          </a:xfrm>
          <a:prstGeom prst="line">
            <a:avLst/>
          </a:prstGeom>
          <a:ln cap="rnd" w="19050">
            <a:solidFill>
              <a:srgbClr val="34323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1" id="21"/>
          <p:cNvSpPr txBox="true"/>
          <p:nvPr/>
        </p:nvSpPr>
        <p:spPr>
          <a:xfrm rot="0">
            <a:off x="11525250" y="3228975"/>
            <a:ext cx="3273247" cy="579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0"/>
              </a:lnSpc>
            </a:pPr>
            <a:r>
              <a:rPr lang="en-US" sz="3450">
                <a:solidFill>
                  <a:srgbClr val="BCA4EE"/>
                </a:solidFill>
                <a:latin typeface="Georgia"/>
                <a:ea typeface="Georgia"/>
                <a:cs typeface="Georgia"/>
                <a:sym typeface="Georgia"/>
              </a:rPr>
              <a:t>Digital Strategy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525250" y="4171950"/>
            <a:ext cx="1524893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E9E7F2"/>
                </a:solidFill>
                <a:latin typeface="Arial Bold"/>
                <a:ea typeface="Arial Bold"/>
                <a:cs typeface="Arial Bold"/>
                <a:sym typeface="Arial Bold"/>
              </a:rPr>
              <a:t>Sara</a:t>
            </a:r>
            <a:r>
              <a:rPr lang="en-US" sz="2700">
                <a:solidFill>
                  <a:srgbClr val="B9B9B9"/>
                </a:solidFill>
                <a:latin typeface="Arial"/>
                <a:ea typeface="Arial"/>
                <a:cs typeface="Arial"/>
                <a:sym typeface="Arial"/>
              </a:rPr>
              <a:t> (GL)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525250" y="4724400"/>
            <a:ext cx="1349302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E9E7F2"/>
                </a:solidFill>
                <a:latin typeface="Arial Bold"/>
                <a:ea typeface="Arial Bold"/>
                <a:cs typeface="Arial Bold"/>
                <a:sym typeface="Arial Bold"/>
              </a:rPr>
              <a:t>Valerio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525250" y="5276850"/>
            <a:ext cx="968054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E9E7F2"/>
                </a:solidFill>
                <a:latin typeface="Arial Bold"/>
                <a:ea typeface="Arial Bold"/>
                <a:cs typeface="Arial Bold"/>
                <a:sym typeface="Arial Bold"/>
              </a:rPr>
              <a:t>Maie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525250" y="6762750"/>
            <a:ext cx="4476750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250">
                <a:solidFill>
                  <a:srgbClr val="B9B9B9"/>
                </a:solidFill>
                <a:latin typeface="Arial"/>
                <a:ea typeface="Arial"/>
                <a:cs typeface="Arial"/>
                <a:sym typeface="Arial"/>
              </a:rPr>
              <a:t>Concept, lore, identità visiva, economia di gioco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57250" y="676275"/>
            <a:ext cx="6787210" cy="925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59"/>
              </a:lnSpc>
            </a:pPr>
            <a:r>
              <a:rPr lang="en-US" sz="5550">
                <a:solidFill>
                  <a:srgbClr val="E9E7F2"/>
                </a:solidFill>
                <a:latin typeface="Georgia"/>
                <a:ea typeface="Georgia"/>
                <a:cs typeface="Georgia"/>
                <a:sym typeface="Georgia"/>
              </a:rPr>
              <a:t>Cosa ci avete chiesto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57250" y="2295525"/>
            <a:ext cx="706164" cy="901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>
                <a:solidFill>
                  <a:srgbClr val="B2A0DE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14500" y="2305050"/>
            <a:ext cx="6667500" cy="1005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2"/>
              </a:lnSpc>
            </a:pPr>
            <a:r>
              <a:rPr lang="en-US" sz="2700">
                <a:solidFill>
                  <a:srgbClr val="D4D4D4"/>
                </a:solidFill>
                <a:latin typeface="Arial"/>
                <a:ea typeface="Arial"/>
                <a:cs typeface="Arial"/>
                <a:sym typeface="Arial"/>
              </a:rPr>
              <a:t>Registrazione, crediti virtuali e pacchetti di carte casuali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239250" y="2295525"/>
            <a:ext cx="794566" cy="901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>
                <a:solidFill>
                  <a:srgbClr val="B2A0DE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096500" y="2305050"/>
            <a:ext cx="6667500" cy="1005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2"/>
              </a:lnSpc>
            </a:pPr>
            <a:r>
              <a:rPr lang="en-US" sz="2700">
                <a:solidFill>
                  <a:srgbClr val="D4D4D4"/>
                </a:solidFill>
                <a:latin typeface="Arial"/>
                <a:ea typeface="Arial"/>
                <a:cs typeface="Arial"/>
                <a:sym typeface="Arial"/>
              </a:rPr>
              <a:t>Collezione e più mazzi, con regole di composizione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57250" y="3962400"/>
            <a:ext cx="789880" cy="901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>
                <a:solidFill>
                  <a:srgbClr val="B2A0DE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14500" y="3971925"/>
            <a:ext cx="6667500" cy="560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2"/>
              </a:lnSpc>
            </a:pPr>
            <a:r>
              <a:rPr lang="en-US" sz="2700">
                <a:solidFill>
                  <a:srgbClr val="D4D4D4"/>
                </a:solidFill>
                <a:latin typeface="Arial"/>
                <a:ea typeface="Arial"/>
                <a:cs typeface="Arial"/>
                <a:sym typeface="Arial"/>
              </a:rPr>
              <a:t>Scambi di carte, solo se l'altro accetta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239250" y="3962400"/>
            <a:ext cx="798919" cy="901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>
                <a:solidFill>
                  <a:srgbClr val="B2A0DE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096500" y="3971925"/>
            <a:ext cx="6667500" cy="1005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2"/>
              </a:lnSpc>
            </a:pPr>
            <a:r>
              <a:rPr lang="en-US" sz="2700">
                <a:solidFill>
                  <a:srgbClr val="D4D4D4"/>
                </a:solidFill>
                <a:latin typeface="Arial"/>
                <a:ea typeface="Arial"/>
                <a:cs typeface="Arial"/>
                <a:sym typeface="Arial"/>
              </a:rPr>
              <a:t>Sfide simulate dal server, round per round, con storico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57250" y="5629275"/>
            <a:ext cx="773801" cy="901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>
                <a:solidFill>
                  <a:srgbClr val="B2A0DE"/>
                </a:solidFill>
                <a:latin typeface="Georgia"/>
                <a:ea typeface="Georgia"/>
                <a:cs typeface="Georgia"/>
                <a:sym typeface="Georgia"/>
              </a:rPr>
              <a:t>5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14500" y="5638800"/>
            <a:ext cx="6667500" cy="1005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2"/>
              </a:lnSpc>
            </a:pPr>
            <a:r>
              <a:rPr lang="en-US" sz="2700">
                <a:solidFill>
                  <a:srgbClr val="D4D4D4"/>
                </a:solidFill>
                <a:latin typeface="Arial"/>
                <a:ea typeface="Arial"/>
                <a:cs typeface="Arial"/>
                <a:sym typeface="Arial"/>
              </a:rPr>
              <a:t>Creature con attacco, difesa e fazioni con vantaggi reciproci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239250" y="5629275"/>
            <a:ext cx="799586" cy="901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>
                <a:solidFill>
                  <a:srgbClr val="B2A0DE"/>
                </a:solidFill>
                <a:latin typeface="Georgia"/>
                <a:ea typeface="Georgia"/>
                <a:cs typeface="Georgia"/>
                <a:sym typeface="Georgia"/>
              </a:rPr>
              <a:t>6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096500" y="5638800"/>
            <a:ext cx="6667500" cy="560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2"/>
              </a:lnSpc>
            </a:pPr>
            <a:r>
              <a:rPr lang="en-US" sz="2700">
                <a:solidFill>
                  <a:srgbClr val="D4D4D4"/>
                </a:solidFill>
                <a:latin typeface="Arial"/>
                <a:ea typeface="Arial"/>
                <a:cs typeface="Arial"/>
                <a:sym typeface="Arial"/>
              </a:rPr>
              <a:t>Backoffice per gestire carte e pacchetti</a:t>
            </a:r>
          </a:p>
        </p:txBody>
      </p:sp>
      <p:sp>
        <p:nvSpPr>
          <p:cNvPr name="AutoShape 15" id="15"/>
          <p:cNvSpPr/>
          <p:nvPr/>
        </p:nvSpPr>
        <p:spPr>
          <a:xfrm>
            <a:off x="857250" y="7524750"/>
            <a:ext cx="16573500" cy="0"/>
          </a:xfrm>
          <a:prstGeom prst="line">
            <a:avLst/>
          </a:prstGeom>
          <a:ln cap="rnd" w="19050">
            <a:solidFill>
              <a:srgbClr val="34323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6" id="16"/>
          <p:cNvSpPr txBox="true"/>
          <p:nvPr/>
        </p:nvSpPr>
        <p:spPr>
          <a:xfrm rot="0">
            <a:off x="857250" y="7905750"/>
            <a:ext cx="12667498" cy="544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E9E7F2"/>
                </a:solidFill>
                <a:latin typeface="Georgia"/>
                <a:ea typeface="Georgia"/>
                <a:cs typeface="Georgia"/>
                <a:sym typeface="Georgia"/>
              </a:rPr>
              <a:t>Tutte le richieste obbligatorie sono coperte, e ne aggiungiamo altre.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57250" y="8848725"/>
            <a:ext cx="6490364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B9B9B9"/>
                </a:solidFill>
                <a:latin typeface="Arial"/>
                <a:ea typeface="Arial"/>
                <a:cs typeface="Arial"/>
                <a:sym typeface="Arial"/>
              </a:rPr>
              <a:t>Fuori dalla fase 1: acquisto di crediti con denaro reale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3695700" y="0"/>
            <a:ext cx="14592300" cy="10287000"/>
            <a:chOff x="0" y="0"/>
            <a:chExt cx="19456400" cy="13716000"/>
          </a:xfrm>
        </p:grpSpPr>
        <p:sp>
          <p:nvSpPr>
            <p:cNvPr name="Freeform 5" id="5" descr="Portale tra sogno e realtà"/>
            <p:cNvSpPr/>
            <p:nvPr/>
          </p:nvSpPr>
          <p:spPr>
            <a:xfrm flipH="false" flipV="false" rot="0">
              <a:off x="0" y="0"/>
              <a:ext cx="194564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9456400">
                  <a:moveTo>
                    <a:pt x="0" y="0"/>
                  </a:moveTo>
                  <a:lnTo>
                    <a:pt x="19456400" y="0"/>
                  </a:lnTo>
                  <a:lnTo>
                    <a:pt x="194564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6027" r="-3720" b="-1175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762000" y="952500"/>
            <a:ext cx="5905500" cy="1053798"/>
            <a:chOff x="0" y="0"/>
            <a:chExt cx="7874000" cy="14050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874000" cy="1405001"/>
            </a:xfrm>
            <a:custGeom>
              <a:avLst/>
              <a:gdLst/>
              <a:ahLst/>
              <a:cxnLst/>
              <a:rect r="r" b="b" t="t" l="l"/>
              <a:pathLst>
                <a:path h="1405001" w="7874000">
                  <a:moveTo>
                    <a:pt x="0" y="0"/>
                  </a:moveTo>
                  <a:lnTo>
                    <a:pt x="7874000" y="0"/>
                  </a:lnTo>
                  <a:lnTo>
                    <a:pt x="7874000" y="1405001"/>
                  </a:lnTo>
                  <a:lnTo>
                    <a:pt x="0" y="14050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4990" t="-292294" r="-9" b="-4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42950" y="5067300"/>
            <a:ext cx="4959810" cy="2254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06"/>
              </a:lnSpc>
            </a:pPr>
            <a:r>
              <a:rPr lang="en-US" sz="13218">
                <a:solidFill>
                  <a:srgbClr val="B196DD"/>
                </a:solidFill>
                <a:latin typeface="Georgia Pro"/>
                <a:ea typeface="Georgia Pro"/>
                <a:cs typeface="Georgia Pro"/>
                <a:sym typeface="Georgia Pro"/>
              </a:rPr>
              <a:t>18–30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57250" y="2438400"/>
            <a:ext cx="7239000" cy="1402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75"/>
              </a:lnSpc>
              <a:spcBef>
                <a:spcPct val="0"/>
              </a:spcBef>
            </a:pPr>
            <a:r>
              <a:rPr lang="en-US" sz="2827" strike="noStrike" u="none">
                <a:solidFill>
                  <a:srgbClr val="FFFFFF">
                    <a:alpha val="84706"/>
                  </a:srgbClr>
                </a:solidFill>
                <a:latin typeface="Georgia Pro"/>
                <a:ea typeface="Georgia Pro"/>
                <a:cs typeface="Georgia Pro"/>
                <a:sym typeface="Georgia Pro"/>
              </a:rPr>
              <a:t>Un gioco di carte collezionabili digitale in cui sogni, incubi e ricordi diventano creature da collezionare.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57250" y="4886325"/>
            <a:ext cx="3810000" cy="490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58"/>
              </a:lnSpc>
              <a:spcBef>
                <a:spcPct val="0"/>
              </a:spcBef>
            </a:pPr>
            <a:r>
              <a:rPr lang="en-US" sz="2827" strike="noStrike" u="none">
                <a:solidFill>
                  <a:srgbClr val="B2A0DE">
                    <a:alpha val="84706"/>
                  </a:srgbClr>
                </a:solidFill>
                <a:latin typeface="Georgia Pro"/>
                <a:ea typeface="Georgia Pro"/>
                <a:cs typeface="Georgia Pro"/>
                <a:sym typeface="Georgia Pro"/>
              </a:rPr>
              <a:t>Per chi è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57250" y="7581900"/>
            <a:ext cx="7239000" cy="935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75"/>
              </a:lnSpc>
              <a:spcBef>
                <a:spcPct val="0"/>
              </a:spcBef>
            </a:pPr>
            <a:r>
              <a:rPr lang="en-US" sz="2827" strike="noStrike" u="none">
                <a:solidFill>
                  <a:srgbClr val="FFFFFF">
                    <a:alpha val="84706"/>
                  </a:srgbClr>
                </a:solidFill>
                <a:latin typeface="Georgia Pro"/>
                <a:ea typeface="Georgia Pro"/>
                <a:cs typeface="Georgia Pro"/>
                <a:sym typeface="Georgia Pro"/>
              </a:rPr>
              <a:t>Giovani adulti appassionati di gaming e fantasy, su smartphone e PC.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64089" y="2142668"/>
            <a:ext cx="16783050" cy="5153025"/>
            <a:chOff x="0" y="0"/>
            <a:chExt cx="22377400" cy="6870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377400" cy="6870700"/>
            </a:xfrm>
            <a:custGeom>
              <a:avLst/>
              <a:gdLst/>
              <a:ahLst/>
              <a:cxnLst/>
              <a:rect r="r" b="b" t="t" l="l"/>
              <a:pathLst>
                <a:path h="6870700" w="22377400">
                  <a:moveTo>
                    <a:pt x="0" y="0"/>
                  </a:moveTo>
                  <a:lnTo>
                    <a:pt x="22377400" y="0"/>
                  </a:lnTo>
                  <a:lnTo>
                    <a:pt x="22377400" y="6870700"/>
                  </a:lnTo>
                  <a:lnTo>
                    <a:pt x="0" y="6870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64089" y="5990730"/>
            <a:ext cx="16783050" cy="1304925"/>
            <a:chOff x="0" y="0"/>
            <a:chExt cx="22377400" cy="17399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377400" cy="1739900"/>
            </a:xfrm>
            <a:custGeom>
              <a:avLst/>
              <a:gdLst/>
              <a:ahLst/>
              <a:cxnLst/>
              <a:rect r="r" b="b" t="t" l="l"/>
              <a:pathLst>
                <a:path h="1739900" w="22377400">
                  <a:moveTo>
                    <a:pt x="0" y="0"/>
                  </a:moveTo>
                  <a:lnTo>
                    <a:pt x="22377400" y="0"/>
                  </a:lnTo>
                  <a:lnTo>
                    <a:pt x="22377400" y="1739900"/>
                  </a:lnTo>
                  <a:lnTo>
                    <a:pt x="0" y="1739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38200" y="813435"/>
            <a:ext cx="8147304" cy="810768"/>
            <a:chOff x="0" y="0"/>
            <a:chExt cx="10863072" cy="108102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863072" cy="1081024"/>
            </a:xfrm>
            <a:custGeom>
              <a:avLst/>
              <a:gdLst/>
              <a:ahLst/>
              <a:cxnLst/>
              <a:rect r="r" b="b" t="t" l="l"/>
              <a:pathLst>
                <a:path h="1081024" w="10863072">
                  <a:moveTo>
                    <a:pt x="0" y="0"/>
                  </a:moveTo>
                  <a:lnTo>
                    <a:pt x="10863072" y="0"/>
                  </a:lnTo>
                  <a:lnTo>
                    <a:pt x="10863072" y="1081024"/>
                  </a:lnTo>
                  <a:lnTo>
                    <a:pt x="0" y="10810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89990"/>
              </a:blip>
              <a:stretch>
                <a:fillRect l="-37" t="0" r="-37" b="-375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857250" y="750570"/>
            <a:ext cx="8211036" cy="941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90"/>
              </a:lnSpc>
            </a:pPr>
            <a:r>
              <a:rPr lang="en-US" sz="5564">
                <a:solidFill>
                  <a:srgbClr val="FFFFFF"/>
                </a:solidFill>
                <a:latin typeface="Georgia Pro"/>
                <a:ea typeface="Georgia Pro"/>
                <a:cs typeface="Georgia Pro"/>
                <a:sym typeface="Georgia Pro"/>
              </a:rPr>
              <a:t>Carte e scontri automatici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695825" y="2505075"/>
            <a:ext cx="1748582" cy="360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b="true" sz="195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Dove si decide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058650" y="2505075"/>
            <a:ext cx="1064568" cy="360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b="true" sz="195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Universo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4394835"/>
            <a:ext cx="1927920" cy="478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b="true" sz="255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Marvel Snap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3352800"/>
            <a:ext cx="1911251" cy="478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b="true" sz="255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Hearthstone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6477000"/>
            <a:ext cx="1954857" cy="478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b="true" sz="2550">
                <a:solidFill>
                  <a:srgbClr val="B89EE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Dreamscape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5438775"/>
            <a:ext cx="2527846" cy="478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b="true" sz="255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Super Auto Pets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695825" y="6477000"/>
            <a:ext cx="5926336" cy="478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b="true" sz="2550">
                <a:solidFill>
                  <a:srgbClr val="B89EE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Mazzo prima dello scontro automatico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058650" y="6477000"/>
            <a:ext cx="5001220" cy="478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b="true" sz="2550">
                <a:solidFill>
                  <a:srgbClr val="B89EE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Sogni, paure e ricordi quotidiani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695825" y="3329940"/>
            <a:ext cx="7143750" cy="1564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3"/>
              </a:lnSpc>
            </a:pPr>
            <a:r>
              <a:rPr lang="en-US" sz="255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Costruzione dei mazzi e strategia durante i turni</a:t>
            </a:r>
          </a:p>
          <a:p>
            <a:pPr algn="l">
              <a:lnSpc>
                <a:spcPts val="3213"/>
              </a:lnSpc>
            </a:pPr>
          </a:p>
          <a:p>
            <a:pPr algn="l">
              <a:lnSpc>
                <a:spcPts val="3213"/>
              </a:lnSpc>
              <a:spcBef>
                <a:spcPts val="2799"/>
              </a:spcBef>
            </a:pPr>
            <a:r>
              <a:rPr lang="en-US" sz="255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Collezionismo, carte digitali e accessibilità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695825" y="5457825"/>
            <a:ext cx="7143750" cy="440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5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Sinergie tra unità e combattimenti automatici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058650" y="3371850"/>
            <a:ext cx="1220837" cy="440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5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Warcraft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058650" y="4413885"/>
            <a:ext cx="970211" cy="440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5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Marvel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058650" y="5457825"/>
            <a:ext cx="2235398" cy="440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5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Animali e abilità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57250" y="7841932"/>
            <a:ext cx="9010726" cy="1854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93"/>
              </a:lnSpc>
            </a:pPr>
            <a:r>
              <a:rPr lang="en-US" sz="3390">
                <a:solidFill>
                  <a:srgbClr val="FFFFFF">
                    <a:alpha val="80000"/>
                  </a:srgbClr>
                </a:solidFill>
                <a:latin typeface="Georgia Pro"/>
                <a:ea typeface="Georgia Pro"/>
                <a:cs typeface="Georgia Pro"/>
                <a:sym typeface="Georgia Pro"/>
              </a:rPr>
              <a:t>La differenza di Dreamscape</a:t>
            </a:r>
          </a:p>
          <a:p>
            <a:pPr algn="l">
              <a:lnSpc>
                <a:spcPts val="3599"/>
              </a:lnSpc>
            </a:pPr>
            <a:r>
              <a:rPr lang="en-US" sz="2777">
                <a:solidFill>
                  <a:srgbClr val="FFFFFF">
                    <a:alpha val="80000"/>
                  </a:srgbClr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Collezione di creature oniriche e strategia nel mazzo, con un immaginario costruito su </a:t>
            </a:r>
            <a:r>
              <a:rPr lang="en-US" b="true" sz="2777">
                <a:solidFill>
                  <a:srgbClr val="FFFFFF">
                    <a:alpha val="80000"/>
                  </a:srgbClr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emozioni riconoscibili</a:t>
            </a:r>
            <a:r>
              <a:rPr lang="en-US" sz="2777">
                <a:solidFill>
                  <a:srgbClr val="FFFFFF">
                    <a:alpha val="80000"/>
                  </a:srgbClr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28700" y="2505075"/>
            <a:ext cx="704552" cy="360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b="true" sz="195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Gioco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8241163"/>
            <a:ext cx="485775" cy="476250"/>
            <a:chOff x="0" y="0"/>
            <a:chExt cx="647700" cy="635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47700" cy="635000"/>
            </a:xfrm>
            <a:custGeom>
              <a:avLst/>
              <a:gdLst/>
              <a:ahLst/>
              <a:cxnLst/>
              <a:rect r="r" b="b" t="t" l="l"/>
              <a:pathLst>
                <a:path h="635000" w="647700">
                  <a:moveTo>
                    <a:pt x="0" y="0"/>
                  </a:moveTo>
                  <a:lnTo>
                    <a:pt x="647700" y="0"/>
                  </a:lnTo>
                  <a:lnTo>
                    <a:pt x="647700" y="635000"/>
                  </a:lnTo>
                  <a:lnTo>
                    <a:pt x="0" y="63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3389005" y="8241163"/>
            <a:ext cx="485775" cy="476250"/>
            <a:chOff x="0" y="0"/>
            <a:chExt cx="647700" cy="635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47700" cy="635000"/>
            </a:xfrm>
            <a:custGeom>
              <a:avLst/>
              <a:gdLst/>
              <a:ahLst/>
              <a:cxnLst/>
              <a:rect r="r" b="b" t="t" l="l"/>
              <a:pathLst>
                <a:path h="635000" w="647700">
                  <a:moveTo>
                    <a:pt x="0" y="0"/>
                  </a:moveTo>
                  <a:lnTo>
                    <a:pt x="647700" y="0"/>
                  </a:lnTo>
                  <a:lnTo>
                    <a:pt x="647700" y="635000"/>
                  </a:lnTo>
                  <a:lnTo>
                    <a:pt x="0" y="63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5749309" y="8241163"/>
            <a:ext cx="485775" cy="476250"/>
            <a:chOff x="0" y="0"/>
            <a:chExt cx="647700" cy="635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47700" cy="635000"/>
            </a:xfrm>
            <a:custGeom>
              <a:avLst/>
              <a:gdLst/>
              <a:ahLst/>
              <a:cxnLst/>
              <a:rect r="r" b="b" t="t" l="l"/>
              <a:pathLst>
                <a:path h="635000" w="647700">
                  <a:moveTo>
                    <a:pt x="0" y="0"/>
                  </a:moveTo>
                  <a:lnTo>
                    <a:pt x="647700" y="0"/>
                  </a:lnTo>
                  <a:lnTo>
                    <a:pt x="647700" y="635000"/>
                  </a:lnTo>
                  <a:lnTo>
                    <a:pt x="0" y="63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181600" y="2394585"/>
            <a:ext cx="7924800" cy="5276850"/>
            <a:chOff x="0" y="0"/>
            <a:chExt cx="10566400" cy="7035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566400" cy="7035800"/>
            </a:xfrm>
            <a:custGeom>
              <a:avLst/>
              <a:gdLst/>
              <a:ahLst/>
              <a:cxnLst/>
              <a:rect r="r" b="b" t="t" l="l"/>
              <a:pathLst>
                <a:path h="7035800" w="10566400">
                  <a:moveTo>
                    <a:pt x="0" y="0"/>
                  </a:moveTo>
                  <a:lnTo>
                    <a:pt x="10566400" y="0"/>
                  </a:lnTo>
                  <a:lnTo>
                    <a:pt x="10566400" y="7035800"/>
                  </a:lnTo>
                  <a:lnTo>
                    <a:pt x="0" y="703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857250" y="664845"/>
            <a:ext cx="7760913" cy="878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5"/>
              </a:lnSpc>
            </a:pPr>
            <a:r>
              <a:rPr lang="en-US" sz="5146">
                <a:solidFill>
                  <a:srgbClr val="FFFFFF"/>
                </a:solidFill>
                <a:latin typeface="Georgia Pro"/>
                <a:ea typeface="Georgia Pro"/>
                <a:cs typeface="Georgia Pro"/>
                <a:sym typeface="Georgia Pro"/>
              </a:rPr>
              <a:t>Direzione visiva: La Soglia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04236" y="8395106"/>
            <a:ext cx="1224629" cy="37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2"/>
              </a:lnSpc>
            </a:pPr>
            <a:r>
              <a:rPr lang="en-US" sz="2152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#000000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914727" y="8395106"/>
            <a:ext cx="1149001" cy="37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2"/>
              </a:lnSpc>
            </a:pPr>
            <a:r>
              <a:rPr lang="en-US" sz="2152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#E9E7F2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38977" y="8966721"/>
            <a:ext cx="4024532" cy="37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2"/>
              </a:lnSpc>
            </a:pPr>
            <a:r>
              <a:rPr lang="en-US" sz="2152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Georgia per i titoli, Arial per i testi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325143" y="8395106"/>
            <a:ext cx="1220191" cy="37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2"/>
              </a:lnSpc>
            </a:pPr>
            <a:r>
              <a:rPr lang="en-US" sz="2152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#B2A0DE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506200" y="1403032"/>
            <a:ext cx="2514600" cy="2514600"/>
            <a:chOff x="0" y="0"/>
            <a:chExt cx="3352800" cy="335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352800" cy="3352800"/>
            </a:xfrm>
            <a:custGeom>
              <a:avLst/>
              <a:gdLst/>
              <a:ahLst/>
              <a:cxnLst/>
              <a:rect r="r" b="b" t="t" l="l"/>
              <a:pathLst>
                <a:path h="3352800" w="3352800">
                  <a:moveTo>
                    <a:pt x="0" y="0"/>
                  </a:moveTo>
                  <a:lnTo>
                    <a:pt x="3352800" y="0"/>
                  </a:lnTo>
                  <a:lnTo>
                    <a:pt x="3352800" y="3352800"/>
                  </a:lnTo>
                  <a:lnTo>
                    <a:pt x="0" y="335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4267200" y="1403033"/>
            <a:ext cx="2514600" cy="2514600"/>
            <a:chOff x="0" y="0"/>
            <a:chExt cx="3352800" cy="335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352800" cy="3352800"/>
            </a:xfrm>
            <a:custGeom>
              <a:avLst/>
              <a:gdLst/>
              <a:ahLst/>
              <a:cxnLst/>
              <a:rect r="r" b="b" t="t" l="l"/>
              <a:pathLst>
                <a:path h="3352800" w="3352800">
                  <a:moveTo>
                    <a:pt x="0" y="0"/>
                  </a:moveTo>
                  <a:lnTo>
                    <a:pt x="3352800" y="0"/>
                  </a:lnTo>
                  <a:lnTo>
                    <a:pt x="3352800" y="3352800"/>
                  </a:lnTo>
                  <a:lnTo>
                    <a:pt x="0" y="335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7886700" y="1403032"/>
            <a:ext cx="2514600" cy="2514600"/>
            <a:chOff x="0" y="0"/>
            <a:chExt cx="3352800" cy="335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352800" cy="3352800"/>
            </a:xfrm>
            <a:custGeom>
              <a:avLst/>
              <a:gdLst/>
              <a:ahLst/>
              <a:cxnLst/>
              <a:rect r="r" b="b" t="t" l="l"/>
              <a:pathLst>
                <a:path h="3352800" w="3352800">
                  <a:moveTo>
                    <a:pt x="0" y="0"/>
                  </a:moveTo>
                  <a:lnTo>
                    <a:pt x="3352800" y="0"/>
                  </a:lnTo>
                  <a:lnTo>
                    <a:pt x="3352800" y="3352800"/>
                  </a:lnTo>
                  <a:lnTo>
                    <a:pt x="0" y="335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3857625" y="5269230"/>
            <a:ext cx="3333750" cy="4648200"/>
            <a:chOff x="0" y="0"/>
            <a:chExt cx="4445000" cy="6197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45000" cy="6197600"/>
            </a:xfrm>
            <a:custGeom>
              <a:avLst/>
              <a:gdLst/>
              <a:ahLst/>
              <a:cxnLst/>
              <a:rect r="r" b="b" t="t" l="l"/>
              <a:pathLst>
                <a:path h="6197600" w="4445000">
                  <a:moveTo>
                    <a:pt x="0" y="0"/>
                  </a:moveTo>
                  <a:lnTo>
                    <a:pt x="4445000" y="0"/>
                  </a:lnTo>
                  <a:lnTo>
                    <a:pt x="4445000" y="6197600"/>
                  </a:lnTo>
                  <a:lnTo>
                    <a:pt x="0" y="6197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477125" y="5269230"/>
            <a:ext cx="3333750" cy="4648200"/>
            <a:chOff x="0" y="0"/>
            <a:chExt cx="4445000" cy="6197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45000" cy="6197600"/>
            </a:xfrm>
            <a:custGeom>
              <a:avLst/>
              <a:gdLst/>
              <a:ahLst/>
              <a:cxnLst/>
              <a:rect r="r" b="b" t="t" l="l"/>
              <a:pathLst>
                <a:path h="6197600" w="4445000">
                  <a:moveTo>
                    <a:pt x="0" y="0"/>
                  </a:moveTo>
                  <a:lnTo>
                    <a:pt x="4445000" y="0"/>
                  </a:lnTo>
                  <a:lnTo>
                    <a:pt x="4445000" y="6197600"/>
                  </a:lnTo>
                  <a:lnTo>
                    <a:pt x="0" y="6197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096625" y="5269230"/>
            <a:ext cx="3333750" cy="4648200"/>
            <a:chOff x="0" y="0"/>
            <a:chExt cx="4445000" cy="6197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45000" cy="6197600"/>
            </a:xfrm>
            <a:custGeom>
              <a:avLst/>
              <a:gdLst/>
              <a:ahLst/>
              <a:cxnLst/>
              <a:rect r="r" b="b" t="t" l="l"/>
              <a:pathLst>
                <a:path h="6197600" w="4445000">
                  <a:moveTo>
                    <a:pt x="0" y="0"/>
                  </a:moveTo>
                  <a:lnTo>
                    <a:pt x="4445000" y="0"/>
                  </a:lnTo>
                  <a:lnTo>
                    <a:pt x="4445000" y="6197600"/>
                  </a:lnTo>
                  <a:lnTo>
                    <a:pt x="0" y="6197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857250" y="621982"/>
            <a:ext cx="6922770" cy="566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84"/>
              </a:lnSpc>
            </a:pPr>
            <a:r>
              <a:rPr lang="en-US" b="true" sz="3132">
                <a:solidFill>
                  <a:srgbClr val="FFFFFF">
                    <a:alpha val="69804"/>
                  </a:srgbClr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LE TRE FAZIONI E LE LORO CARTE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897755" y="3800475"/>
            <a:ext cx="1253900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37"/>
              </a:lnSpc>
            </a:pPr>
            <a:r>
              <a:rPr lang="en-US" sz="2781">
                <a:solidFill>
                  <a:srgbClr val="96C5E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Dreams</a:t>
            </a:r>
          </a:p>
          <a:p>
            <a:pPr algn="ctr">
              <a:lnSpc>
                <a:spcPts val="2644"/>
              </a:lnSpc>
            </a:pPr>
            <a:r>
              <a:rPr lang="en-US" sz="2203">
                <a:solidFill>
                  <a:srgbClr val="FFFFFF"/>
                </a:solidFill>
                <a:latin typeface="Georgia Pro"/>
                <a:ea typeface="Georgia Pro"/>
                <a:cs typeface="Georgia Pro"/>
                <a:sym typeface="Georgia Pro"/>
              </a:rPr>
              <a:t>Sogni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225790" y="3800475"/>
            <a:ext cx="1837182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37"/>
              </a:lnSpc>
            </a:pPr>
            <a:r>
              <a:rPr lang="en-US" sz="2781">
                <a:solidFill>
                  <a:srgbClr val="FF738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Nightmares</a:t>
            </a:r>
          </a:p>
          <a:p>
            <a:pPr algn="ctr">
              <a:lnSpc>
                <a:spcPts val="2644"/>
              </a:lnSpc>
            </a:pPr>
            <a:r>
              <a:rPr lang="en-US" sz="2203">
                <a:solidFill>
                  <a:srgbClr val="FFFFFF"/>
                </a:solidFill>
                <a:latin typeface="Georgia Pro"/>
                <a:ea typeface="Georgia Pro"/>
                <a:cs typeface="Georgia Pro"/>
                <a:sym typeface="Georgia Pro"/>
              </a:rPr>
              <a:t>Incubi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971972" y="3800475"/>
            <a:ext cx="1583284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37"/>
              </a:lnSpc>
            </a:pPr>
            <a:r>
              <a:rPr lang="en-US" sz="2781">
                <a:solidFill>
                  <a:srgbClr val="E6AD6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Memories</a:t>
            </a:r>
          </a:p>
          <a:p>
            <a:pPr algn="ctr">
              <a:lnSpc>
                <a:spcPts val="2644"/>
              </a:lnSpc>
            </a:pPr>
            <a:r>
              <a:rPr lang="en-US" sz="2203">
                <a:solidFill>
                  <a:srgbClr val="FFFFFF"/>
                </a:solidFill>
                <a:latin typeface="Georgia Pro"/>
                <a:ea typeface="Georgia Pro"/>
                <a:cs typeface="Georgia Pro"/>
                <a:sym typeface="Georgia Pro"/>
              </a:rPr>
              <a:t>Ricordi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841308" y="853421"/>
            <a:ext cx="2514600" cy="2514600"/>
            <a:chOff x="0" y="0"/>
            <a:chExt cx="3352800" cy="335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352800" cy="3352800"/>
            </a:xfrm>
            <a:custGeom>
              <a:avLst/>
              <a:gdLst/>
              <a:ahLst/>
              <a:cxnLst/>
              <a:rect r="r" b="b" t="t" l="l"/>
              <a:pathLst>
                <a:path h="3352800" w="3352800">
                  <a:moveTo>
                    <a:pt x="0" y="0"/>
                  </a:moveTo>
                  <a:lnTo>
                    <a:pt x="3352800" y="0"/>
                  </a:lnTo>
                  <a:lnTo>
                    <a:pt x="3352800" y="3352800"/>
                  </a:lnTo>
                  <a:lnTo>
                    <a:pt x="0" y="335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775874" y="730206"/>
            <a:ext cx="1971675" cy="2762250"/>
            <a:chOff x="0" y="0"/>
            <a:chExt cx="2628900" cy="3683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628900" cy="3683000"/>
            </a:xfrm>
            <a:custGeom>
              <a:avLst/>
              <a:gdLst/>
              <a:ahLst/>
              <a:cxnLst/>
              <a:rect r="r" b="b" t="t" l="l"/>
              <a:pathLst>
                <a:path h="3683000" w="2628900">
                  <a:moveTo>
                    <a:pt x="0" y="0"/>
                  </a:moveTo>
                  <a:lnTo>
                    <a:pt x="2628900" y="0"/>
                  </a:lnTo>
                  <a:lnTo>
                    <a:pt x="2628900" y="3683000"/>
                  </a:lnTo>
                  <a:lnTo>
                    <a:pt x="0" y="3683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560501" y="760314"/>
            <a:ext cx="1933575" cy="2695575"/>
            <a:chOff x="0" y="0"/>
            <a:chExt cx="2578100" cy="35941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578100" cy="3594100"/>
            </a:xfrm>
            <a:custGeom>
              <a:avLst/>
              <a:gdLst/>
              <a:ahLst/>
              <a:cxnLst/>
              <a:rect r="r" b="b" t="t" l="l"/>
              <a:pathLst>
                <a:path h="3594100" w="2578100">
                  <a:moveTo>
                    <a:pt x="0" y="0"/>
                  </a:moveTo>
                  <a:lnTo>
                    <a:pt x="2578100" y="0"/>
                  </a:lnTo>
                  <a:lnTo>
                    <a:pt x="2578100" y="3594100"/>
                  </a:lnTo>
                  <a:lnTo>
                    <a:pt x="0" y="3594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172002" y="736463"/>
            <a:ext cx="1962150" cy="2743200"/>
            <a:chOff x="0" y="0"/>
            <a:chExt cx="2616200" cy="3657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616200" cy="3657600"/>
            </a:xfrm>
            <a:custGeom>
              <a:avLst/>
              <a:gdLst/>
              <a:ahLst/>
              <a:cxnLst/>
              <a:rect r="r" b="b" t="t" l="l"/>
              <a:pathLst>
                <a:path h="3657600" w="2616200">
                  <a:moveTo>
                    <a:pt x="0" y="0"/>
                  </a:moveTo>
                  <a:lnTo>
                    <a:pt x="2616200" y="0"/>
                  </a:lnTo>
                  <a:lnTo>
                    <a:pt x="2616200" y="3657600"/>
                  </a:lnTo>
                  <a:lnTo>
                    <a:pt x="0" y="3657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914852" y="773287"/>
            <a:ext cx="1914525" cy="2676525"/>
            <a:chOff x="0" y="0"/>
            <a:chExt cx="2552700" cy="35687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552700" cy="3568700"/>
            </a:xfrm>
            <a:custGeom>
              <a:avLst/>
              <a:gdLst/>
              <a:ahLst/>
              <a:cxnLst/>
              <a:rect r="r" b="b" t="t" l="l"/>
              <a:pathLst>
                <a:path h="3568700" w="2552700">
                  <a:moveTo>
                    <a:pt x="0" y="0"/>
                  </a:moveTo>
                  <a:lnTo>
                    <a:pt x="2552700" y="0"/>
                  </a:lnTo>
                  <a:lnTo>
                    <a:pt x="2552700" y="3568700"/>
                  </a:lnTo>
                  <a:lnTo>
                    <a:pt x="0" y="3568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841308" y="3888562"/>
            <a:ext cx="2514600" cy="2514600"/>
            <a:chOff x="0" y="0"/>
            <a:chExt cx="3352800" cy="335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352800" cy="3352800"/>
            </a:xfrm>
            <a:custGeom>
              <a:avLst/>
              <a:gdLst/>
              <a:ahLst/>
              <a:cxnLst/>
              <a:rect r="r" b="b" t="t" l="l"/>
              <a:pathLst>
                <a:path h="3352800" w="3352800">
                  <a:moveTo>
                    <a:pt x="0" y="0"/>
                  </a:moveTo>
                  <a:lnTo>
                    <a:pt x="3352800" y="0"/>
                  </a:lnTo>
                  <a:lnTo>
                    <a:pt x="3352800" y="3352800"/>
                  </a:lnTo>
                  <a:lnTo>
                    <a:pt x="0" y="335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841308" y="6922770"/>
            <a:ext cx="2514600" cy="2514600"/>
            <a:chOff x="0" y="0"/>
            <a:chExt cx="3352800" cy="335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352800" cy="3352800"/>
            </a:xfrm>
            <a:custGeom>
              <a:avLst/>
              <a:gdLst/>
              <a:ahLst/>
              <a:cxnLst/>
              <a:rect r="r" b="b" t="t" l="l"/>
              <a:pathLst>
                <a:path h="3352800" w="3352800">
                  <a:moveTo>
                    <a:pt x="0" y="0"/>
                  </a:moveTo>
                  <a:lnTo>
                    <a:pt x="3352800" y="0"/>
                  </a:lnTo>
                  <a:lnTo>
                    <a:pt x="3352800" y="3352800"/>
                  </a:lnTo>
                  <a:lnTo>
                    <a:pt x="0" y="335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190929" y="3787702"/>
            <a:ext cx="1943100" cy="2714625"/>
            <a:chOff x="0" y="0"/>
            <a:chExt cx="2590800" cy="36195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590800" cy="3619500"/>
            </a:xfrm>
            <a:custGeom>
              <a:avLst/>
              <a:gdLst/>
              <a:ahLst/>
              <a:cxnLst/>
              <a:rect r="r" b="b" t="t" l="l"/>
              <a:pathLst>
                <a:path h="3619500" w="2590800">
                  <a:moveTo>
                    <a:pt x="0" y="0"/>
                  </a:moveTo>
                  <a:lnTo>
                    <a:pt x="2590800" y="0"/>
                  </a:lnTo>
                  <a:lnTo>
                    <a:pt x="2590800" y="3619500"/>
                  </a:lnTo>
                  <a:lnTo>
                    <a:pt x="0" y="3619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5775874" y="3753060"/>
            <a:ext cx="1990725" cy="2781300"/>
            <a:chOff x="0" y="0"/>
            <a:chExt cx="2654300" cy="3708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654300" cy="3708400"/>
            </a:xfrm>
            <a:custGeom>
              <a:avLst/>
              <a:gdLst/>
              <a:ahLst/>
              <a:cxnLst/>
              <a:rect r="r" b="b" t="t" l="l"/>
              <a:pathLst>
                <a:path h="3708400" w="2654300">
                  <a:moveTo>
                    <a:pt x="0" y="0"/>
                  </a:moveTo>
                  <a:lnTo>
                    <a:pt x="2654300" y="0"/>
                  </a:lnTo>
                  <a:lnTo>
                    <a:pt x="2654300" y="3708400"/>
                  </a:lnTo>
                  <a:lnTo>
                    <a:pt x="0" y="3708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2880505" y="3758851"/>
            <a:ext cx="1981200" cy="2771775"/>
            <a:chOff x="0" y="0"/>
            <a:chExt cx="2641600" cy="36957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641600" cy="3695700"/>
            </a:xfrm>
            <a:custGeom>
              <a:avLst/>
              <a:gdLst/>
              <a:ahLst/>
              <a:cxnLst/>
              <a:rect r="r" b="b" t="t" l="l"/>
              <a:pathLst>
                <a:path h="3695700" w="2641600">
                  <a:moveTo>
                    <a:pt x="0" y="0"/>
                  </a:moveTo>
                  <a:lnTo>
                    <a:pt x="2641600" y="0"/>
                  </a:lnTo>
                  <a:lnTo>
                    <a:pt x="2641600" y="3695700"/>
                  </a:lnTo>
                  <a:lnTo>
                    <a:pt x="0" y="3695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0556377" y="3816563"/>
            <a:ext cx="1905000" cy="2657475"/>
            <a:chOff x="0" y="0"/>
            <a:chExt cx="2540000" cy="35433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540000" cy="3543300"/>
            </a:xfrm>
            <a:custGeom>
              <a:avLst/>
              <a:gdLst/>
              <a:ahLst/>
              <a:cxnLst/>
              <a:rect r="r" b="b" t="t" l="l"/>
              <a:pathLst>
                <a:path h="3543300" w="2540000">
                  <a:moveTo>
                    <a:pt x="0" y="0"/>
                  </a:moveTo>
                  <a:lnTo>
                    <a:pt x="2540000" y="0"/>
                  </a:lnTo>
                  <a:lnTo>
                    <a:pt x="2540000" y="3543300"/>
                  </a:lnTo>
                  <a:lnTo>
                    <a:pt x="0" y="3543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0549519" y="6840207"/>
            <a:ext cx="1914525" cy="2676525"/>
            <a:chOff x="0" y="0"/>
            <a:chExt cx="2552700" cy="35687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552700" cy="3568700"/>
            </a:xfrm>
            <a:custGeom>
              <a:avLst/>
              <a:gdLst/>
              <a:ahLst/>
              <a:cxnLst/>
              <a:rect r="r" b="b" t="t" l="l"/>
              <a:pathLst>
                <a:path h="3568700" w="2552700">
                  <a:moveTo>
                    <a:pt x="0" y="0"/>
                  </a:moveTo>
                  <a:lnTo>
                    <a:pt x="2552700" y="0"/>
                  </a:lnTo>
                  <a:lnTo>
                    <a:pt x="2552700" y="3568700"/>
                  </a:lnTo>
                  <a:lnTo>
                    <a:pt x="0" y="3568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5775874" y="6800488"/>
            <a:ext cx="1971675" cy="2752725"/>
            <a:chOff x="0" y="0"/>
            <a:chExt cx="2628900" cy="36703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628900" cy="3670300"/>
            </a:xfrm>
            <a:custGeom>
              <a:avLst/>
              <a:gdLst/>
              <a:ahLst/>
              <a:cxnLst/>
              <a:rect r="r" b="b" t="t" l="l"/>
              <a:pathLst>
                <a:path h="3670300" w="2628900">
                  <a:moveTo>
                    <a:pt x="0" y="0"/>
                  </a:moveTo>
                  <a:lnTo>
                    <a:pt x="2628900" y="0"/>
                  </a:lnTo>
                  <a:lnTo>
                    <a:pt x="2628900" y="3670300"/>
                  </a:lnTo>
                  <a:lnTo>
                    <a:pt x="0" y="3670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8172002" y="6814776"/>
            <a:ext cx="1952625" cy="2724150"/>
            <a:chOff x="0" y="0"/>
            <a:chExt cx="2603500" cy="36322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603500" cy="3632200"/>
            </a:xfrm>
            <a:custGeom>
              <a:avLst/>
              <a:gdLst/>
              <a:ahLst/>
              <a:cxnLst/>
              <a:rect r="r" b="b" t="t" l="l"/>
              <a:pathLst>
                <a:path h="3632200" w="2603500">
                  <a:moveTo>
                    <a:pt x="0" y="0"/>
                  </a:moveTo>
                  <a:lnTo>
                    <a:pt x="2603500" y="0"/>
                  </a:lnTo>
                  <a:lnTo>
                    <a:pt x="2603500" y="3632200"/>
                  </a:lnTo>
                  <a:lnTo>
                    <a:pt x="0" y="3632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2888782" y="6840207"/>
            <a:ext cx="1914525" cy="2676525"/>
            <a:chOff x="0" y="0"/>
            <a:chExt cx="2552700" cy="35687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552700" cy="3568700"/>
            </a:xfrm>
            <a:custGeom>
              <a:avLst/>
              <a:gdLst/>
              <a:ahLst/>
              <a:cxnLst/>
              <a:rect r="r" b="b" t="t" l="l"/>
              <a:pathLst>
                <a:path h="3568700" w="2552700">
                  <a:moveTo>
                    <a:pt x="0" y="0"/>
                  </a:moveTo>
                  <a:lnTo>
                    <a:pt x="2552700" y="0"/>
                  </a:lnTo>
                  <a:lnTo>
                    <a:pt x="2552700" y="3568700"/>
                  </a:lnTo>
                  <a:lnTo>
                    <a:pt x="0" y="3568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781300" y="2476500"/>
            <a:ext cx="3570434" cy="5334000"/>
            <a:chOff x="0" y="0"/>
            <a:chExt cx="5372100" cy="802557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372100" cy="8025638"/>
            </a:xfrm>
            <a:custGeom>
              <a:avLst/>
              <a:gdLst/>
              <a:ahLst/>
              <a:cxnLst/>
              <a:rect r="r" b="b" t="t" l="l"/>
              <a:pathLst>
                <a:path h="8025638" w="5372100">
                  <a:moveTo>
                    <a:pt x="254000" y="0"/>
                  </a:moveTo>
                  <a:cubicBezTo>
                    <a:pt x="113665" y="0"/>
                    <a:pt x="0" y="113665"/>
                    <a:pt x="0" y="254000"/>
                  </a:cubicBezTo>
                  <a:lnTo>
                    <a:pt x="0" y="7771638"/>
                  </a:lnTo>
                  <a:cubicBezTo>
                    <a:pt x="0" y="7911973"/>
                    <a:pt x="113665" y="8025638"/>
                    <a:pt x="254000" y="8025638"/>
                  </a:cubicBezTo>
                  <a:lnTo>
                    <a:pt x="5123561" y="8025638"/>
                  </a:lnTo>
                  <a:cubicBezTo>
                    <a:pt x="5245862" y="8025638"/>
                    <a:pt x="5347970" y="7939278"/>
                    <a:pt x="5372100" y="7824089"/>
                  </a:cubicBezTo>
                  <a:lnTo>
                    <a:pt x="5372100" y="201803"/>
                  </a:lnTo>
                  <a:cubicBezTo>
                    <a:pt x="5362067" y="153924"/>
                    <a:pt x="5338318" y="109601"/>
                    <a:pt x="5303139" y="74422"/>
                  </a:cubicBezTo>
                  <a:cubicBezTo>
                    <a:pt x="5255514" y="26797"/>
                    <a:pt x="5190871" y="0"/>
                    <a:pt x="5123561" y="0"/>
                  </a:cubicBezTo>
                  <a:close/>
                </a:path>
              </a:pathLst>
            </a:custGeom>
            <a:blipFill>
              <a:blip r:embed="rId3"/>
              <a:stretch>
                <a:fillRect l="-3891" t="-396" r="-4618" b="-119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239000" y="2476500"/>
            <a:ext cx="3815215" cy="5334000"/>
            <a:chOff x="0" y="0"/>
            <a:chExt cx="5740400" cy="802557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740400" cy="8025638"/>
            </a:xfrm>
            <a:custGeom>
              <a:avLst/>
              <a:gdLst/>
              <a:ahLst/>
              <a:cxnLst/>
              <a:rect r="r" b="b" t="t" l="l"/>
              <a:pathLst>
                <a:path h="8025638" w="5740400">
                  <a:moveTo>
                    <a:pt x="646811" y="0"/>
                  </a:moveTo>
                  <a:cubicBezTo>
                    <a:pt x="289560" y="508"/>
                    <a:pt x="0" y="290322"/>
                    <a:pt x="0" y="647700"/>
                  </a:cubicBezTo>
                  <a:lnTo>
                    <a:pt x="0" y="7377938"/>
                  </a:lnTo>
                  <a:cubicBezTo>
                    <a:pt x="0" y="7735697"/>
                    <a:pt x="289941" y="8025638"/>
                    <a:pt x="647700" y="8025638"/>
                  </a:cubicBezTo>
                  <a:lnTo>
                    <a:pt x="5098034" y="8025638"/>
                  </a:lnTo>
                  <a:cubicBezTo>
                    <a:pt x="5427472" y="8025638"/>
                    <a:pt x="5699506" y="7779639"/>
                    <a:pt x="5740400" y="7461250"/>
                  </a:cubicBezTo>
                  <a:lnTo>
                    <a:pt x="5740400" y="564388"/>
                  </a:lnTo>
                  <a:cubicBezTo>
                    <a:pt x="5699506" y="246253"/>
                    <a:pt x="5427980" y="381"/>
                    <a:pt x="5098796" y="0"/>
                  </a:cubicBezTo>
                  <a:close/>
                </a:path>
              </a:pathLst>
            </a:custGeom>
            <a:blipFill>
              <a:blip r:embed="rId4"/>
              <a:stretch>
                <a:fillRect l="0" t="0" r="0" b="-9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3514725" y="8020050"/>
            <a:ext cx="2019895" cy="65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351"/>
              </a:lnSpc>
              <a:spcBef>
                <a:spcPct val="0"/>
              </a:spcBef>
            </a:pPr>
            <a:r>
              <a:rPr lang="en-US" b="true" sz="3822" strike="noStrike" u="none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PROPOSTA 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086725" y="8020050"/>
            <a:ext cx="8572500" cy="65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351"/>
              </a:lnSpc>
              <a:spcBef>
                <a:spcPct val="0"/>
              </a:spcBef>
            </a:pPr>
            <a:r>
              <a:rPr lang="en-US" b="true" sz="3822" strike="noStrike" u="none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PROPOSTA 2                            PROPOSTA 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15340" y="774478"/>
            <a:ext cx="6454769" cy="566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84"/>
              </a:lnSpc>
            </a:pPr>
            <a:r>
              <a:rPr lang="en-US" b="true" sz="3132">
                <a:solidFill>
                  <a:srgbClr val="FFFFFF">
                    <a:alpha val="69804"/>
                  </a:srgbClr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VISUAL IDENTITY RETRO CARTE</a:t>
            </a:r>
          </a:p>
        </p:txBody>
      </p:sp>
      <p:sp>
        <p:nvSpPr>
          <p:cNvPr name="Freeform 9" id="9" descr="Proposta 3: il simbolo come monolite su un lago"/>
          <p:cNvSpPr/>
          <p:nvPr/>
        </p:nvSpPr>
        <p:spPr>
          <a:xfrm flipH="false" flipV="false" rot="0">
            <a:off x="11934825" y="2476500"/>
            <a:ext cx="3552825" cy="5334000"/>
          </a:xfrm>
          <a:custGeom>
            <a:avLst/>
            <a:gdLst/>
            <a:ahLst/>
            <a:cxnLst/>
            <a:rect r="r" b="b" t="t" l="l"/>
            <a:pathLst>
              <a:path h="5334000" w="3552825">
                <a:moveTo>
                  <a:pt x="0" y="0"/>
                </a:moveTo>
                <a:lnTo>
                  <a:pt x="3552825" y="0"/>
                </a:lnTo>
                <a:lnTo>
                  <a:pt x="3552825" y="5334000"/>
                </a:lnTo>
                <a:lnTo>
                  <a:pt x="0" y="5334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3" t="0" r="-13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57250" y="676275"/>
            <a:ext cx="6302626" cy="925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59"/>
              </a:lnSpc>
            </a:pPr>
            <a:r>
              <a:rPr lang="en-US" sz="5550">
                <a:solidFill>
                  <a:srgbClr val="E9E7F2"/>
                </a:solidFill>
                <a:latin typeface="Georgia"/>
                <a:ea typeface="Georgia"/>
                <a:cs typeface="Georgia"/>
                <a:sym typeface="Georgia"/>
              </a:rPr>
              <a:t>I Lord delle fazioni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57250" y="1800225"/>
            <a:ext cx="12518793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D4D4D4"/>
                </a:solidFill>
                <a:latin typeface="Arial"/>
                <a:ea typeface="Arial"/>
                <a:cs typeface="Arial"/>
                <a:sym typeface="Arial"/>
              </a:rPr>
              <a:t>Ogni fazione ha un Lord, la sua Leggendaria più iconica: è anche la copertina dei pacchetti.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428750" y="2476500"/>
            <a:ext cx="3429000" cy="5143500"/>
            <a:chOff x="0" y="0"/>
            <a:chExt cx="4572000" cy="6858000"/>
          </a:xfrm>
        </p:grpSpPr>
        <p:sp>
          <p:nvSpPr>
            <p:cNvPr name="Freeform 5" id="5" descr="el-006.png"/>
            <p:cNvSpPr/>
            <p:nvPr/>
          </p:nvSpPr>
          <p:spPr>
            <a:xfrm flipH="false" flipV="false" rot="0">
              <a:off x="0" y="0"/>
              <a:ext cx="45720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14462" y="2462212"/>
            <a:ext cx="3457575" cy="5172075"/>
            <a:chOff x="0" y="0"/>
            <a:chExt cx="4610100" cy="68961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610100" cy="6896100"/>
            </a:xfrm>
            <a:custGeom>
              <a:avLst/>
              <a:gdLst/>
              <a:ahLst/>
              <a:cxnLst/>
              <a:rect r="r" b="b" t="t" l="l"/>
              <a:pathLst>
                <a:path h="6896100" w="4610100">
                  <a:moveTo>
                    <a:pt x="0" y="230505"/>
                  </a:moveTo>
                  <a:cubicBezTo>
                    <a:pt x="0" y="103251"/>
                    <a:pt x="103251" y="0"/>
                    <a:pt x="230505" y="0"/>
                  </a:cubicBezTo>
                  <a:lnTo>
                    <a:pt x="4379595" y="0"/>
                  </a:lnTo>
                  <a:cubicBezTo>
                    <a:pt x="4506849" y="0"/>
                    <a:pt x="4610100" y="103251"/>
                    <a:pt x="4610100" y="230505"/>
                  </a:cubicBezTo>
                  <a:lnTo>
                    <a:pt x="4610100" y="6665595"/>
                  </a:lnTo>
                  <a:cubicBezTo>
                    <a:pt x="4610100" y="6792849"/>
                    <a:pt x="4506849" y="6896100"/>
                    <a:pt x="4379595" y="6896100"/>
                  </a:cubicBezTo>
                  <a:lnTo>
                    <a:pt x="230505" y="6896100"/>
                  </a:lnTo>
                  <a:cubicBezTo>
                    <a:pt x="103251" y="6896100"/>
                    <a:pt x="0" y="6792849"/>
                    <a:pt x="0" y="6665595"/>
                  </a:cubicBez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41925" t="0" r="-141925" b="0"/>
              </a:stretch>
            </a:blipFill>
            <a:ln w="28575" cap="sq">
              <a:solidFill>
                <a:srgbClr val="96C5E1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485900" y="7886700"/>
            <a:ext cx="876300" cy="876300"/>
            <a:chOff x="0" y="0"/>
            <a:chExt cx="1168400" cy="1168400"/>
          </a:xfrm>
        </p:grpSpPr>
        <p:sp>
          <p:nvSpPr>
            <p:cNvPr name="Freeform 9" id="9" descr="el-007.png"/>
            <p:cNvSpPr/>
            <p:nvPr/>
          </p:nvSpPr>
          <p:spPr>
            <a:xfrm flipH="false" flipV="false" rot="0">
              <a:off x="0" y="0"/>
              <a:ext cx="1168400" cy="1168400"/>
            </a:xfrm>
            <a:custGeom>
              <a:avLst/>
              <a:gdLst/>
              <a:ahLst/>
              <a:cxnLst/>
              <a:rect r="r" b="b" t="t" l="l"/>
              <a:pathLst>
                <a:path h="1168400" w="1168400">
                  <a:moveTo>
                    <a:pt x="0" y="0"/>
                  </a:moveTo>
                  <a:lnTo>
                    <a:pt x="1168400" y="0"/>
                  </a:lnTo>
                  <a:lnTo>
                    <a:pt x="1168400" y="1168400"/>
                  </a:lnTo>
                  <a:lnTo>
                    <a:pt x="0" y="1168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2495550" y="7886700"/>
            <a:ext cx="1562291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96C5E1"/>
                </a:solidFill>
                <a:latin typeface="Arial"/>
                <a:ea typeface="Arial"/>
                <a:cs typeface="Arial"/>
                <a:sym typeface="Arial"/>
              </a:rPr>
              <a:t>Dreams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495550" y="8401050"/>
            <a:ext cx="2153564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E9E7F2"/>
                </a:solidFill>
                <a:latin typeface="Georgia"/>
                <a:ea typeface="Georgia"/>
                <a:cs typeface="Georgia"/>
                <a:sym typeface="Georgia"/>
              </a:rPr>
              <a:t>Il Sogno Lucido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495550" y="8858250"/>
            <a:ext cx="1579950" cy="34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B9B9B9"/>
                </a:solidFill>
                <a:latin typeface="Arial"/>
                <a:ea typeface="Arial"/>
                <a:cs typeface="Arial"/>
                <a:sym typeface="Arial"/>
              </a:rPr>
              <a:t>Dreams Lord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762750" y="2476500"/>
            <a:ext cx="3429000" cy="5143500"/>
            <a:chOff x="0" y="0"/>
            <a:chExt cx="4572000" cy="6858000"/>
          </a:xfrm>
        </p:grpSpPr>
        <p:sp>
          <p:nvSpPr>
            <p:cNvPr name="Freeform 14" id="14" descr="el-008.png"/>
            <p:cNvSpPr/>
            <p:nvPr/>
          </p:nvSpPr>
          <p:spPr>
            <a:xfrm flipH="false" flipV="false" rot="0">
              <a:off x="0" y="0"/>
              <a:ext cx="45720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6748462" y="2462212"/>
            <a:ext cx="3457575" cy="5172075"/>
            <a:chOff x="0" y="0"/>
            <a:chExt cx="4610100" cy="68961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610100" cy="6896100"/>
            </a:xfrm>
            <a:custGeom>
              <a:avLst/>
              <a:gdLst/>
              <a:ahLst/>
              <a:cxnLst/>
              <a:rect r="r" b="b" t="t" l="l"/>
              <a:pathLst>
                <a:path h="6896100" w="4610100">
                  <a:moveTo>
                    <a:pt x="0" y="230505"/>
                  </a:moveTo>
                  <a:cubicBezTo>
                    <a:pt x="0" y="103251"/>
                    <a:pt x="103251" y="0"/>
                    <a:pt x="230505" y="0"/>
                  </a:cubicBezTo>
                  <a:lnTo>
                    <a:pt x="4379595" y="0"/>
                  </a:lnTo>
                  <a:cubicBezTo>
                    <a:pt x="4506849" y="0"/>
                    <a:pt x="4610100" y="103251"/>
                    <a:pt x="4610100" y="230505"/>
                  </a:cubicBezTo>
                  <a:lnTo>
                    <a:pt x="4610100" y="6665595"/>
                  </a:lnTo>
                  <a:cubicBezTo>
                    <a:pt x="4610100" y="6792849"/>
                    <a:pt x="4506849" y="6896100"/>
                    <a:pt x="4379595" y="6896100"/>
                  </a:cubicBezTo>
                  <a:lnTo>
                    <a:pt x="230505" y="6896100"/>
                  </a:lnTo>
                  <a:cubicBezTo>
                    <a:pt x="103251" y="6896100"/>
                    <a:pt x="0" y="6792849"/>
                    <a:pt x="0" y="6665595"/>
                  </a:cubicBez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41925" t="0" r="-141925" b="0"/>
              </a:stretch>
            </a:blipFill>
            <a:ln w="28575" cap="sq">
              <a:solidFill>
                <a:srgbClr val="FF738E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6819900" y="7886700"/>
            <a:ext cx="876300" cy="876300"/>
            <a:chOff x="0" y="0"/>
            <a:chExt cx="1168400" cy="1168400"/>
          </a:xfrm>
        </p:grpSpPr>
        <p:sp>
          <p:nvSpPr>
            <p:cNvPr name="Freeform 18" id="18" descr="el-009.png"/>
            <p:cNvSpPr/>
            <p:nvPr/>
          </p:nvSpPr>
          <p:spPr>
            <a:xfrm flipH="false" flipV="false" rot="0">
              <a:off x="0" y="0"/>
              <a:ext cx="1168400" cy="1168400"/>
            </a:xfrm>
            <a:custGeom>
              <a:avLst/>
              <a:gdLst/>
              <a:ahLst/>
              <a:cxnLst/>
              <a:rect r="r" b="b" t="t" l="l"/>
              <a:pathLst>
                <a:path h="1168400" w="1168400">
                  <a:moveTo>
                    <a:pt x="0" y="0"/>
                  </a:moveTo>
                  <a:lnTo>
                    <a:pt x="1168400" y="0"/>
                  </a:lnTo>
                  <a:lnTo>
                    <a:pt x="1168400" y="1168400"/>
                  </a:lnTo>
                  <a:lnTo>
                    <a:pt x="0" y="1168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7829550" y="7886700"/>
            <a:ext cx="2176577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FF738E"/>
                </a:solidFill>
                <a:latin typeface="Arial"/>
                <a:ea typeface="Arial"/>
                <a:cs typeface="Arial"/>
                <a:sym typeface="Arial"/>
              </a:rPr>
              <a:t>Nightmares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829550" y="8401050"/>
            <a:ext cx="2736228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E9E7F2"/>
                </a:solidFill>
                <a:latin typeface="Georgia"/>
                <a:ea typeface="Georgia"/>
                <a:cs typeface="Georgia"/>
                <a:sym typeface="Georgia"/>
              </a:rPr>
              <a:t>L'Uomo Senza Volto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829550" y="8858250"/>
            <a:ext cx="1979238" cy="34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B9B9B9"/>
                </a:solidFill>
                <a:latin typeface="Arial"/>
                <a:ea typeface="Arial"/>
                <a:cs typeface="Arial"/>
                <a:sym typeface="Arial"/>
              </a:rPr>
              <a:t>Nightmares Lord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2096750" y="2476500"/>
            <a:ext cx="3429000" cy="5143500"/>
            <a:chOff x="0" y="0"/>
            <a:chExt cx="4572000" cy="6858000"/>
          </a:xfrm>
        </p:grpSpPr>
        <p:sp>
          <p:nvSpPr>
            <p:cNvPr name="Freeform 23" id="23" descr="el-010.png"/>
            <p:cNvSpPr/>
            <p:nvPr/>
          </p:nvSpPr>
          <p:spPr>
            <a:xfrm flipH="false" flipV="false" rot="0">
              <a:off x="0" y="0"/>
              <a:ext cx="45720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2082462" y="2462212"/>
            <a:ext cx="3457575" cy="5172075"/>
            <a:chOff x="0" y="0"/>
            <a:chExt cx="4610100" cy="68961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610100" cy="6896100"/>
            </a:xfrm>
            <a:custGeom>
              <a:avLst/>
              <a:gdLst/>
              <a:ahLst/>
              <a:cxnLst/>
              <a:rect r="r" b="b" t="t" l="l"/>
              <a:pathLst>
                <a:path h="6896100" w="4610100">
                  <a:moveTo>
                    <a:pt x="0" y="230505"/>
                  </a:moveTo>
                  <a:cubicBezTo>
                    <a:pt x="0" y="103251"/>
                    <a:pt x="103251" y="0"/>
                    <a:pt x="230505" y="0"/>
                  </a:cubicBezTo>
                  <a:lnTo>
                    <a:pt x="4379595" y="0"/>
                  </a:lnTo>
                  <a:cubicBezTo>
                    <a:pt x="4506849" y="0"/>
                    <a:pt x="4610100" y="103251"/>
                    <a:pt x="4610100" y="230505"/>
                  </a:cubicBezTo>
                  <a:lnTo>
                    <a:pt x="4610100" y="6665595"/>
                  </a:lnTo>
                  <a:cubicBezTo>
                    <a:pt x="4610100" y="6792849"/>
                    <a:pt x="4506849" y="6896100"/>
                    <a:pt x="4379595" y="6896100"/>
                  </a:cubicBezTo>
                  <a:lnTo>
                    <a:pt x="230505" y="6896100"/>
                  </a:lnTo>
                  <a:cubicBezTo>
                    <a:pt x="103251" y="6896100"/>
                    <a:pt x="0" y="6792849"/>
                    <a:pt x="0" y="6665595"/>
                  </a:cubicBez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41925" t="0" r="-141925" b="0"/>
              </a:stretch>
            </a:blipFill>
            <a:ln w="28575" cap="sq">
              <a:solidFill>
                <a:srgbClr val="E6AD6B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2153900" y="7886700"/>
            <a:ext cx="876300" cy="876300"/>
            <a:chOff x="0" y="0"/>
            <a:chExt cx="1168400" cy="1168400"/>
          </a:xfrm>
        </p:grpSpPr>
        <p:sp>
          <p:nvSpPr>
            <p:cNvPr name="Freeform 27" id="27" descr="el-011.png"/>
            <p:cNvSpPr/>
            <p:nvPr/>
          </p:nvSpPr>
          <p:spPr>
            <a:xfrm flipH="false" flipV="false" rot="0">
              <a:off x="0" y="0"/>
              <a:ext cx="1168400" cy="1168400"/>
            </a:xfrm>
            <a:custGeom>
              <a:avLst/>
              <a:gdLst/>
              <a:ahLst/>
              <a:cxnLst/>
              <a:rect r="r" b="b" t="t" l="l"/>
              <a:pathLst>
                <a:path h="1168400" w="1168400">
                  <a:moveTo>
                    <a:pt x="0" y="0"/>
                  </a:moveTo>
                  <a:lnTo>
                    <a:pt x="1168400" y="0"/>
                  </a:lnTo>
                  <a:lnTo>
                    <a:pt x="1168400" y="1168400"/>
                  </a:lnTo>
                  <a:lnTo>
                    <a:pt x="0" y="1168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3163550" y="7886700"/>
            <a:ext cx="1901057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E6AD6B"/>
                </a:solidFill>
                <a:latin typeface="Arial"/>
                <a:ea typeface="Arial"/>
                <a:cs typeface="Arial"/>
                <a:sym typeface="Arial"/>
              </a:rPr>
              <a:t>Memories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163550" y="8401050"/>
            <a:ext cx="3889829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E9E7F2"/>
                </a:solidFill>
                <a:latin typeface="Georgia"/>
                <a:ea typeface="Georgia"/>
                <a:cs typeface="Georgia"/>
                <a:sym typeface="Georgia"/>
              </a:rPr>
              <a:t>La Custode del Tempo Fermo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163550" y="8858250"/>
            <a:ext cx="1800158" cy="34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B9B9B9"/>
                </a:solidFill>
                <a:latin typeface="Arial"/>
                <a:ea typeface="Arial"/>
                <a:cs typeface="Arial"/>
                <a:sym typeface="Arial"/>
              </a:rPr>
              <a:t>Memories Lord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el-001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4" r="-1024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 descr="el-002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4" r="-909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857250" y="676275"/>
            <a:ext cx="5947791" cy="925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59"/>
              </a:lnSpc>
            </a:pPr>
            <a:r>
              <a:rPr lang="en-US" sz="5550">
                <a:solidFill>
                  <a:srgbClr val="E9E7F2"/>
                </a:solidFill>
                <a:latin typeface="Georgia"/>
                <a:ea typeface="Georgia"/>
                <a:cs typeface="Georgia"/>
                <a:sym typeface="Georgia"/>
              </a:rPr>
              <a:t>Le regole in breve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57250" y="1704975"/>
            <a:ext cx="7628944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>
                <a:solidFill>
                  <a:srgbClr val="B9B9B9"/>
                </a:solidFill>
                <a:latin typeface="Arial"/>
                <a:ea typeface="Arial"/>
                <a:cs typeface="Arial"/>
                <a:sym typeface="Arial"/>
              </a:rPr>
              <a:t>Una sola modalità, la Base, con gli effetti delle carte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57250" y="2562225"/>
            <a:ext cx="2532259" cy="186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0"/>
              </a:lnSpc>
            </a:pPr>
            <a:r>
              <a:rPr lang="en-US" sz="11250">
                <a:solidFill>
                  <a:srgbClr val="B2A0DE"/>
                </a:solidFill>
                <a:latin typeface="Georgia"/>
                <a:ea typeface="Georgia"/>
                <a:cs typeface="Georgia"/>
                <a:sym typeface="Georgia"/>
              </a:rPr>
              <a:t>20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95350" y="4267200"/>
            <a:ext cx="2188445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D4D4D4"/>
                </a:solidFill>
                <a:latin typeface="Arial"/>
                <a:ea typeface="Arial"/>
                <a:cs typeface="Arial"/>
                <a:sym typeface="Arial"/>
              </a:rPr>
              <a:t>carte nel mazzo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210050" y="2562225"/>
            <a:ext cx="1655340" cy="186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0"/>
              </a:lnSpc>
            </a:pPr>
            <a:r>
              <a:rPr lang="en-US" sz="11250">
                <a:solidFill>
                  <a:srgbClr val="B2A0DE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248150" y="4267200"/>
            <a:ext cx="2378897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D4D4D4"/>
                </a:solidFill>
                <a:latin typeface="Arial"/>
                <a:ea typeface="Arial"/>
                <a:cs typeface="Arial"/>
                <a:sym typeface="Arial"/>
              </a:rPr>
              <a:t>copie al massimo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248150" y="4648200"/>
            <a:ext cx="2983182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D4D4D4"/>
                </a:solidFill>
                <a:latin typeface="Arial"/>
                <a:ea typeface="Arial"/>
                <a:cs typeface="Arial"/>
                <a:sym typeface="Arial"/>
              </a:rPr>
              <a:t>(1 per le Leggendarie)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562850" y="2562225"/>
            <a:ext cx="2532259" cy="186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0"/>
              </a:lnSpc>
            </a:pPr>
            <a:r>
              <a:rPr lang="en-US" sz="11250">
                <a:solidFill>
                  <a:srgbClr val="B2A0DE"/>
                </a:solidFill>
                <a:latin typeface="Georgia"/>
                <a:ea typeface="Georgia"/>
                <a:cs typeface="Georgia"/>
                <a:sym typeface="Georgia"/>
              </a:rPr>
              <a:t>20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600950" y="4267200"/>
            <a:ext cx="1315145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D4D4D4"/>
                </a:solidFill>
                <a:latin typeface="Arial"/>
                <a:ea typeface="Arial"/>
                <a:cs typeface="Arial"/>
                <a:sym typeface="Arial"/>
              </a:rPr>
              <a:t>punti vita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600950" y="4648200"/>
            <a:ext cx="1918183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D4D4D4"/>
                </a:solidFill>
                <a:latin typeface="Arial"/>
                <a:ea typeface="Arial"/>
                <a:cs typeface="Arial"/>
                <a:sym typeface="Arial"/>
              </a:rPr>
              <a:t>(da verificare)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915650" y="2562225"/>
            <a:ext cx="2389946" cy="186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0"/>
              </a:lnSpc>
            </a:pPr>
            <a:r>
              <a:rPr lang="en-US" sz="11250">
                <a:solidFill>
                  <a:srgbClr val="B2A0DE"/>
                </a:solidFill>
                <a:latin typeface="Georgia"/>
                <a:ea typeface="Georgia"/>
                <a:cs typeface="Georgia"/>
                <a:sym typeface="Georgia"/>
              </a:rPr>
              <a:t>+1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953750" y="4267200"/>
            <a:ext cx="1839211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D4D4D4"/>
                </a:solidFill>
                <a:latin typeface="Arial"/>
                <a:ea typeface="Arial"/>
                <a:cs typeface="Arial"/>
                <a:sym typeface="Arial"/>
              </a:rPr>
              <a:t>attacco con il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953750" y="4648200"/>
            <a:ext cx="2713339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D4D4D4"/>
                </a:solidFill>
                <a:latin typeface="Arial"/>
                <a:ea typeface="Arial"/>
                <a:cs typeface="Arial"/>
                <a:sym typeface="Arial"/>
              </a:rPr>
              <a:t>vantaggio di fazione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268450" y="2562225"/>
            <a:ext cx="2542727" cy="186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0"/>
              </a:lnSpc>
            </a:pPr>
            <a:r>
              <a:rPr lang="en-US" sz="11250">
                <a:solidFill>
                  <a:srgbClr val="B2A0DE"/>
                </a:solidFill>
                <a:latin typeface="Georgia"/>
                <a:ea typeface="Georgia"/>
                <a:cs typeface="Georgia"/>
                <a:sym typeface="Georgia"/>
              </a:rPr>
              <a:t>60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306550" y="4267200"/>
            <a:ext cx="2506008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D4D4D4"/>
                </a:solidFill>
                <a:latin typeface="Arial"/>
                <a:ea typeface="Arial"/>
                <a:cs typeface="Arial"/>
                <a:sym typeface="Arial"/>
              </a:rPr>
              <a:t>round al massimo,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306550" y="4648200"/>
            <a:ext cx="1744332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D4D4D4"/>
                </a:solidFill>
                <a:latin typeface="Arial"/>
                <a:ea typeface="Arial"/>
                <a:cs typeface="Arial"/>
                <a:sym typeface="Arial"/>
              </a:rPr>
              <a:t>poi pareggio</a:t>
            </a:r>
          </a:p>
        </p:txBody>
      </p:sp>
      <p:sp>
        <p:nvSpPr>
          <p:cNvPr name="AutoShape 22" id="22"/>
          <p:cNvSpPr/>
          <p:nvPr/>
        </p:nvSpPr>
        <p:spPr>
          <a:xfrm>
            <a:off x="857250" y="5619750"/>
            <a:ext cx="16573500" cy="0"/>
          </a:xfrm>
          <a:prstGeom prst="line">
            <a:avLst/>
          </a:prstGeom>
          <a:ln cap="rnd" w="19050">
            <a:solidFill>
              <a:srgbClr val="34323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3" id="23"/>
          <p:cNvSpPr txBox="true"/>
          <p:nvPr/>
        </p:nvSpPr>
        <p:spPr>
          <a:xfrm rot="0">
            <a:off x="857250" y="5981700"/>
            <a:ext cx="10477005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D4D4D4"/>
                </a:solidFill>
                <a:latin typeface="Arial"/>
                <a:ea typeface="Arial"/>
                <a:cs typeface="Arial"/>
                <a:sym typeface="Arial"/>
              </a:rPr>
              <a:t>Limiti per rarità: </a:t>
            </a:r>
            <a:r>
              <a:rPr lang="en-US" sz="2700" b="true">
                <a:solidFill>
                  <a:srgbClr val="E9E7F2"/>
                </a:solidFill>
                <a:latin typeface="Arial Bold"/>
                <a:ea typeface="Arial Bold"/>
                <a:cs typeface="Arial Bold"/>
                <a:sym typeface="Arial Bold"/>
              </a:rPr>
              <a:t>Leggendarie 2 · Epiche 4 · Rare 8</a:t>
            </a:r>
            <a:r>
              <a:rPr lang="en-US" sz="2700">
                <a:solidFill>
                  <a:srgbClr val="D4D4D4"/>
                </a:solidFill>
                <a:latin typeface="Arial"/>
                <a:ea typeface="Arial"/>
                <a:cs typeface="Arial"/>
                <a:sym typeface="Arial"/>
              </a:rPr>
              <a:t> · Comuni libere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57250" y="6553200"/>
            <a:ext cx="7828569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E9E7F2"/>
                </a:solidFill>
                <a:latin typeface="Arial Bold"/>
                <a:ea typeface="Arial Bold"/>
                <a:cs typeface="Arial Bold"/>
                <a:sym typeface="Arial Bold"/>
              </a:rPr>
              <a:t>23 effetti</a:t>
            </a:r>
            <a:r>
              <a:rPr lang="en-US" sz="2700">
                <a:solidFill>
                  <a:srgbClr val="D4D4D4"/>
                </a:solidFill>
                <a:latin typeface="Arial"/>
                <a:ea typeface="Arial"/>
                <a:cs typeface="Arial"/>
                <a:sym typeface="Arial"/>
              </a:rPr>
              <a:t>: Protezione, Castigo, Miasma, Ritorno…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57250" y="7515225"/>
            <a:ext cx="15240000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75"/>
              </a:lnSpc>
            </a:pPr>
            <a:r>
              <a:rPr lang="en-US" sz="3450">
                <a:solidFill>
                  <a:srgbClr val="E9E7F2"/>
                </a:solidFill>
                <a:latin typeface="Georgia"/>
                <a:ea typeface="Georgia"/>
                <a:cs typeface="Georgia"/>
                <a:sym typeface="Georgia"/>
              </a:rPr>
              <a:t>La strategia è nel mazzo: il server simula la partita, il giocatore la rivede round per round.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57250" y="676275"/>
            <a:ext cx="6760369" cy="925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59"/>
              </a:lnSpc>
            </a:pPr>
            <a:r>
              <a:rPr lang="en-US" sz="5550">
                <a:solidFill>
                  <a:srgbClr val="E9E7F2"/>
                </a:solidFill>
                <a:latin typeface="Georgia"/>
                <a:ea typeface="Georgia"/>
                <a:cs typeface="Georgia"/>
                <a:sym typeface="Georgia"/>
              </a:rPr>
              <a:t>Un round d'esempio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57250" y="1704975"/>
            <a:ext cx="6837502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>
                <a:solidFill>
                  <a:srgbClr val="B9B9B9"/>
                </a:solidFill>
                <a:latin typeface="Arial"/>
                <a:ea typeface="Arial"/>
                <a:cs typeface="Arial"/>
                <a:sym typeface="Arial"/>
              </a:rPr>
              <a:t>Round 3 della partita di prova del regolamento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57250" y="2381250"/>
            <a:ext cx="5334000" cy="3562350"/>
            <a:chOff x="0" y="0"/>
            <a:chExt cx="7112000" cy="4749800"/>
          </a:xfrm>
        </p:grpSpPr>
        <p:sp>
          <p:nvSpPr>
            <p:cNvPr name="Freeform 5" id="5" descr="el-014.png"/>
            <p:cNvSpPr/>
            <p:nvPr/>
          </p:nvSpPr>
          <p:spPr>
            <a:xfrm flipH="false" flipV="false" rot="0">
              <a:off x="0" y="0"/>
              <a:ext cx="7112000" cy="4749800"/>
            </a:xfrm>
            <a:custGeom>
              <a:avLst/>
              <a:gdLst/>
              <a:ahLst/>
              <a:cxnLst/>
              <a:rect r="r" b="b" t="t" l="l"/>
              <a:pathLst>
                <a:path h="4749800" w="7112000">
                  <a:moveTo>
                    <a:pt x="0" y="0"/>
                  </a:moveTo>
                  <a:lnTo>
                    <a:pt x="7112000" y="0"/>
                  </a:lnTo>
                  <a:lnTo>
                    <a:pt x="7112000" y="4749800"/>
                  </a:lnTo>
                  <a:lnTo>
                    <a:pt x="0" y="4749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42962" y="2366962"/>
            <a:ext cx="5362575" cy="3590925"/>
            <a:chOff x="0" y="0"/>
            <a:chExt cx="7150100" cy="47879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150100" cy="4787900"/>
            </a:xfrm>
            <a:custGeom>
              <a:avLst/>
              <a:gdLst/>
              <a:ahLst/>
              <a:cxnLst/>
              <a:rect r="r" b="b" t="t" l="l"/>
              <a:pathLst>
                <a:path h="4787900" w="7150100">
                  <a:moveTo>
                    <a:pt x="0" y="179197"/>
                  </a:moveTo>
                  <a:cubicBezTo>
                    <a:pt x="0" y="80264"/>
                    <a:pt x="80264" y="0"/>
                    <a:pt x="179197" y="0"/>
                  </a:cubicBezTo>
                  <a:lnTo>
                    <a:pt x="6970903" y="0"/>
                  </a:lnTo>
                  <a:cubicBezTo>
                    <a:pt x="7069836" y="0"/>
                    <a:pt x="7150100" y="80264"/>
                    <a:pt x="7150100" y="179197"/>
                  </a:cubicBezTo>
                  <a:lnTo>
                    <a:pt x="7150100" y="4608703"/>
                  </a:lnTo>
                  <a:cubicBezTo>
                    <a:pt x="7150100" y="4707636"/>
                    <a:pt x="7069836" y="4787900"/>
                    <a:pt x="6970903" y="4787900"/>
                  </a:cubicBezTo>
                  <a:lnTo>
                    <a:pt x="179197" y="4787900"/>
                  </a:lnTo>
                  <a:cubicBezTo>
                    <a:pt x="80264" y="4787900"/>
                    <a:pt x="0" y="4707636"/>
                    <a:pt x="0" y="4608703"/>
                  </a:cubicBez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5915" t="0" r="-35915" b="0"/>
              </a:stretch>
            </a:blipFill>
            <a:ln w="28575" cap="sq">
              <a:solidFill>
                <a:srgbClr val="96C5E1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2096750" y="2381250"/>
            <a:ext cx="5334000" cy="3562350"/>
            <a:chOff x="0" y="0"/>
            <a:chExt cx="7112000" cy="4749800"/>
          </a:xfrm>
        </p:grpSpPr>
        <p:sp>
          <p:nvSpPr>
            <p:cNvPr name="Freeform 9" id="9" descr="el-015.png"/>
            <p:cNvSpPr/>
            <p:nvPr/>
          </p:nvSpPr>
          <p:spPr>
            <a:xfrm flipH="false" flipV="false" rot="0">
              <a:off x="0" y="0"/>
              <a:ext cx="7112000" cy="4749800"/>
            </a:xfrm>
            <a:custGeom>
              <a:avLst/>
              <a:gdLst/>
              <a:ahLst/>
              <a:cxnLst/>
              <a:rect r="r" b="b" t="t" l="l"/>
              <a:pathLst>
                <a:path h="4749800" w="7112000">
                  <a:moveTo>
                    <a:pt x="0" y="0"/>
                  </a:moveTo>
                  <a:lnTo>
                    <a:pt x="7112000" y="0"/>
                  </a:lnTo>
                  <a:lnTo>
                    <a:pt x="7112000" y="4749800"/>
                  </a:lnTo>
                  <a:lnTo>
                    <a:pt x="0" y="4749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082462" y="2366962"/>
            <a:ext cx="5362575" cy="3590925"/>
            <a:chOff x="0" y="0"/>
            <a:chExt cx="7150100" cy="47879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150100" cy="4787900"/>
            </a:xfrm>
            <a:custGeom>
              <a:avLst/>
              <a:gdLst/>
              <a:ahLst/>
              <a:cxnLst/>
              <a:rect r="r" b="b" t="t" l="l"/>
              <a:pathLst>
                <a:path h="4787900" w="7150100">
                  <a:moveTo>
                    <a:pt x="0" y="179197"/>
                  </a:moveTo>
                  <a:cubicBezTo>
                    <a:pt x="0" y="80264"/>
                    <a:pt x="80264" y="0"/>
                    <a:pt x="179197" y="0"/>
                  </a:cubicBezTo>
                  <a:lnTo>
                    <a:pt x="6970903" y="0"/>
                  </a:lnTo>
                  <a:cubicBezTo>
                    <a:pt x="7069836" y="0"/>
                    <a:pt x="7150100" y="80264"/>
                    <a:pt x="7150100" y="179197"/>
                  </a:cubicBezTo>
                  <a:lnTo>
                    <a:pt x="7150100" y="4608703"/>
                  </a:lnTo>
                  <a:cubicBezTo>
                    <a:pt x="7150100" y="4707636"/>
                    <a:pt x="7069836" y="4787900"/>
                    <a:pt x="6970903" y="4787900"/>
                  </a:cubicBezTo>
                  <a:lnTo>
                    <a:pt x="179197" y="4787900"/>
                  </a:lnTo>
                  <a:cubicBezTo>
                    <a:pt x="80264" y="4787900"/>
                    <a:pt x="0" y="4707636"/>
                    <a:pt x="0" y="4608703"/>
                  </a:cubicBez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5915" t="0" r="-35915" b="0"/>
              </a:stretch>
            </a:blipFill>
            <a:ln w="28575" cap="sq">
              <a:solidFill>
                <a:srgbClr val="FF738E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857250" y="6086475"/>
            <a:ext cx="3002537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>
                <a:solidFill>
                  <a:srgbClr val="96C5E1"/>
                </a:solidFill>
                <a:latin typeface="Arial"/>
                <a:ea typeface="Arial"/>
                <a:cs typeface="Arial"/>
                <a:sym typeface="Arial"/>
              </a:rPr>
              <a:t>Il Faro nella Nebbia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57250" y="6496050"/>
            <a:ext cx="4084749" cy="34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B9B9B9"/>
                </a:solidFill>
                <a:latin typeface="Arial"/>
                <a:ea typeface="Arial"/>
                <a:cs typeface="Arial"/>
                <a:sym typeface="Arial"/>
              </a:rPr>
              <a:t>Giocatore A · Dreams · Epica · 4 / 7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096750" y="6086475"/>
            <a:ext cx="3136478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>
                <a:solidFill>
                  <a:srgbClr val="FF738E"/>
                </a:solidFill>
                <a:latin typeface="Arial"/>
                <a:ea typeface="Arial"/>
                <a:cs typeface="Arial"/>
                <a:sym typeface="Arial"/>
              </a:rPr>
              <a:t>L'Uomo Senza Volto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096750" y="6496050"/>
            <a:ext cx="5241617" cy="34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B9B9B9"/>
                </a:solidFill>
                <a:latin typeface="Arial"/>
                <a:ea typeface="Arial"/>
                <a:cs typeface="Arial"/>
                <a:sym typeface="Arial"/>
              </a:rPr>
              <a:t>Giocatore B · Nightmares · Leggendaria · 8 / 5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415204" y="3810000"/>
            <a:ext cx="1457601" cy="544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0"/>
              </a:lnSpc>
            </a:pPr>
            <a:r>
              <a:rPr lang="en-US" sz="3300">
                <a:solidFill>
                  <a:srgbClr val="B9B9B9"/>
                </a:solidFill>
                <a:latin typeface="Georgia"/>
                <a:ea typeface="Georgia"/>
                <a:cs typeface="Georgia"/>
                <a:sym typeface="Georgia"/>
              </a:rPr>
              <a:t>contro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57250" y="7334250"/>
            <a:ext cx="627698" cy="792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>
                <a:solidFill>
                  <a:srgbClr val="B2A0DE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90650" y="7400925"/>
            <a:ext cx="2204809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E9E7F2"/>
                </a:solidFill>
                <a:latin typeface="Arial Bold"/>
                <a:ea typeface="Arial Bold"/>
                <a:cs typeface="Arial Bold"/>
                <a:sym typeface="Arial Bold"/>
              </a:rPr>
              <a:t>Indebolimento 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90650" y="7705725"/>
            <a:ext cx="3429000" cy="407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2"/>
              </a:lnSpc>
            </a:pPr>
            <a:r>
              <a:rPr lang="en-US" sz="1950">
                <a:solidFill>
                  <a:srgbClr val="D4D4D4"/>
                </a:solidFill>
                <a:latin typeface="Arial"/>
                <a:ea typeface="Arial"/>
                <a:cs typeface="Arial"/>
                <a:sym typeface="Arial"/>
              </a:rPr>
              <a:t>il Faro attacca con 2, non 4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095875" y="7334250"/>
            <a:ext cx="706279" cy="792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>
                <a:solidFill>
                  <a:srgbClr val="B2A0DE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629275" y="7400925"/>
            <a:ext cx="3391157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E9E7F2"/>
                </a:solidFill>
                <a:latin typeface="Arial Bold"/>
                <a:ea typeface="Arial Bold"/>
                <a:cs typeface="Arial Bold"/>
                <a:sym typeface="Arial Bold"/>
              </a:rPr>
              <a:t>Nightmares batte Dreams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629275" y="7705725"/>
            <a:ext cx="3429000" cy="407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2"/>
              </a:lnSpc>
            </a:pPr>
            <a:r>
              <a:rPr lang="en-US" sz="1950">
                <a:solidFill>
                  <a:srgbClr val="D4D4D4"/>
                </a:solidFill>
                <a:latin typeface="Arial"/>
                <a:ea typeface="Arial"/>
                <a:cs typeface="Arial"/>
                <a:sym typeface="Arial"/>
              </a:rPr>
              <a:t>l'Uomo attacca con 8 + 1 = 9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334500" y="7334250"/>
            <a:ext cx="702116" cy="792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>
                <a:solidFill>
                  <a:srgbClr val="B2A0DE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867900" y="7400925"/>
            <a:ext cx="2812437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E9E7F2"/>
                </a:solidFill>
                <a:latin typeface="Arial Bold"/>
                <a:ea typeface="Arial Bold"/>
                <a:cs typeface="Arial Bold"/>
                <a:sym typeface="Arial Bold"/>
              </a:rPr>
              <a:t>Colpi contemporanei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867900" y="7705725"/>
            <a:ext cx="3429000" cy="729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2"/>
              </a:lnSpc>
            </a:pPr>
            <a:r>
              <a:rPr lang="en-US" sz="1950">
                <a:solidFill>
                  <a:srgbClr val="D4D4D4"/>
                </a:solidFill>
                <a:latin typeface="Arial"/>
                <a:ea typeface="Arial"/>
                <a:cs typeface="Arial"/>
                <a:sym typeface="Arial"/>
              </a:rPr>
              <a:t>il Faro muore, l'Uomo scende a 3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573125" y="7334250"/>
            <a:ext cx="710146" cy="792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>
                <a:solidFill>
                  <a:srgbClr val="B2A0DE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106525" y="7400925"/>
            <a:ext cx="2560711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E9E7F2"/>
                </a:solidFill>
                <a:latin typeface="Arial Bold"/>
                <a:ea typeface="Arial Bold"/>
                <a:cs typeface="Arial Bold"/>
                <a:sym typeface="Arial Bold"/>
              </a:rPr>
              <a:t>Danno al giocatore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4106525" y="7705725"/>
            <a:ext cx="3429000" cy="729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2"/>
              </a:lnSpc>
            </a:pPr>
            <a:r>
              <a:rPr lang="en-US" sz="1950">
                <a:solidFill>
                  <a:srgbClr val="D4D4D4"/>
                </a:solidFill>
                <a:latin typeface="Arial"/>
                <a:ea typeface="Arial"/>
                <a:cs typeface="Arial"/>
                <a:sym typeface="Arial"/>
              </a:rPr>
              <a:t>9 − 7 = 2, A passa da 20 a 18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57250" y="676275"/>
            <a:ext cx="4344667" cy="925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59"/>
              </a:lnSpc>
            </a:pPr>
            <a:r>
              <a:rPr lang="en-US" sz="5550">
                <a:solidFill>
                  <a:srgbClr val="E9E7F2"/>
                </a:solidFill>
                <a:latin typeface="Georgia"/>
                <a:ea typeface="Georgia"/>
                <a:cs typeface="Georgia"/>
                <a:sym typeface="Georgia"/>
              </a:rPr>
              <a:t>Funzionalità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7905750" y="2190750"/>
            <a:ext cx="9334500" cy="6134100"/>
            <a:chOff x="0" y="0"/>
            <a:chExt cx="12446000" cy="8178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446000" cy="8178800"/>
            </a:xfrm>
            <a:custGeom>
              <a:avLst/>
              <a:gdLst/>
              <a:ahLst/>
              <a:cxnLst/>
              <a:rect r="r" b="b" t="t" l="l"/>
              <a:pathLst>
                <a:path h="8178800" w="12446000">
                  <a:moveTo>
                    <a:pt x="0" y="0"/>
                  </a:moveTo>
                  <a:lnTo>
                    <a:pt x="12446000" y="0"/>
                  </a:lnTo>
                  <a:lnTo>
                    <a:pt x="12446000" y="8178800"/>
                  </a:lnTo>
                  <a:lnTo>
                    <a:pt x="0" y="8178800"/>
                  </a:lnTo>
                  <a:close/>
                </a:path>
              </a:pathLst>
            </a:custGeom>
            <a:solidFill>
              <a:srgbClr val="2A2340"/>
            </a:solidFill>
          </p:spPr>
        </p:sp>
      </p:grpSp>
      <p:sp>
        <p:nvSpPr>
          <p:cNvPr name="AutoShape 5" id="5"/>
          <p:cNvSpPr/>
          <p:nvPr/>
        </p:nvSpPr>
        <p:spPr>
          <a:xfrm>
            <a:off x="1047750" y="2190750"/>
            <a:ext cx="16192500" cy="0"/>
          </a:xfrm>
          <a:prstGeom prst="line">
            <a:avLst/>
          </a:prstGeom>
          <a:ln cap="rnd" w="19050">
            <a:solidFill>
              <a:srgbClr val="34323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1047750" y="3067050"/>
            <a:ext cx="16192500" cy="0"/>
          </a:xfrm>
          <a:prstGeom prst="line">
            <a:avLst/>
          </a:prstGeom>
          <a:ln cap="rnd" w="19050">
            <a:solidFill>
              <a:srgbClr val="34323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047750" y="3943350"/>
            <a:ext cx="16192500" cy="0"/>
          </a:xfrm>
          <a:prstGeom prst="line">
            <a:avLst/>
          </a:prstGeom>
          <a:ln cap="rnd" w="19050">
            <a:solidFill>
              <a:srgbClr val="34323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1047750" y="4819650"/>
            <a:ext cx="16192500" cy="0"/>
          </a:xfrm>
          <a:prstGeom prst="line">
            <a:avLst/>
          </a:prstGeom>
          <a:ln cap="rnd" w="19050">
            <a:solidFill>
              <a:srgbClr val="34323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1047750" y="5695950"/>
            <a:ext cx="16192500" cy="0"/>
          </a:xfrm>
          <a:prstGeom prst="line">
            <a:avLst/>
          </a:prstGeom>
          <a:ln cap="rnd" w="19050">
            <a:solidFill>
              <a:srgbClr val="34323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1047750" y="6572250"/>
            <a:ext cx="16192500" cy="0"/>
          </a:xfrm>
          <a:prstGeom prst="line">
            <a:avLst/>
          </a:prstGeom>
          <a:ln cap="rnd" w="19050">
            <a:solidFill>
              <a:srgbClr val="34323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1047750" y="7448550"/>
            <a:ext cx="16192500" cy="0"/>
          </a:xfrm>
          <a:prstGeom prst="line">
            <a:avLst/>
          </a:prstGeom>
          <a:ln cap="rnd" w="19050">
            <a:solidFill>
              <a:srgbClr val="34323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1047750" y="8324850"/>
            <a:ext cx="16192500" cy="0"/>
          </a:xfrm>
          <a:prstGeom prst="line">
            <a:avLst/>
          </a:prstGeom>
          <a:ln cap="rnd" w="19050">
            <a:solidFill>
              <a:srgbClr val="34323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1047750" y="2190750"/>
            <a:ext cx="0" cy="6134100"/>
          </a:xfrm>
          <a:prstGeom prst="line">
            <a:avLst/>
          </a:prstGeom>
          <a:ln cap="rnd" w="19050">
            <a:solidFill>
              <a:srgbClr val="34323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7905750" y="2190750"/>
            <a:ext cx="0" cy="6134100"/>
          </a:xfrm>
          <a:prstGeom prst="line">
            <a:avLst/>
          </a:prstGeom>
          <a:ln cap="rnd" w="19050">
            <a:solidFill>
              <a:srgbClr val="34323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 flipH="true">
            <a:off x="17240250" y="2190750"/>
            <a:ext cx="0" cy="6134100"/>
          </a:xfrm>
          <a:prstGeom prst="line">
            <a:avLst/>
          </a:prstGeom>
          <a:ln cap="rnd" w="19050">
            <a:solidFill>
              <a:srgbClr val="34323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6" id="16"/>
          <p:cNvSpPr txBox="true"/>
          <p:nvPr/>
        </p:nvSpPr>
        <p:spPr>
          <a:xfrm rot="0">
            <a:off x="1238250" y="2486025"/>
            <a:ext cx="2457317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B9B9B9"/>
                </a:solidFill>
                <a:latin typeface="Arial Bold"/>
                <a:ea typeface="Arial Bold"/>
                <a:cs typeface="Arial Bold"/>
                <a:sym typeface="Arial Bold"/>
              </a:rPr>
              <a:t>Richieste dal brief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096250" y="2486025"/>
            <a:ext cx="3582848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BCA4EE"/>
                </a:solidFill>
                <a:latin typeface="Arial Bold"/>
                <a:ea typeface="Arial Bold"/>
                <a:cs typeface="Arial Bold"/>
                <a:sym typeface="Arial Bold"/>
              </a:rPr>
              <a:t>In più, proposte da Somnia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38250" y="3305175"/>
            <a:ext cx="3722503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>
                <a:solidFill>
                  <a:srgbClr val="D4D4D4"/>
                </a:solidFill>
                <a:latin typeface="Arial"/>
                <a:ea typeface="Arial"/>
                <a:cs typeface="Arial"/>
                <a:sym typeface="Arial"/>
              </a:rPr>
              <a:t>Registrazione e accesso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096250" y="3305175"/>
            <a:ext cx="7375303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true">
                <a:solidFill>
                  <a:srgbClr val="BCA4EE"/>
                </a:solidFill>
                <a:latin typeface="Arial Bold"/>
                <a:ea typeface="Arial Bold"/>
                <a:cs typeface="Arial Bold"/>
                <a:sym typeface="Arial Bold"/>
              </a:rPr>
              <a:t>Lista amici: scambi tra amici, in quantità libere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38250" y="4181475"/>
            <a:ext cx="3884428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>
                <a:solidFill>
                  <a:srgbClr val="D4D4D4"/>
                </a:solidFill>
                <a:latin typeface="Arial"/>
                <a:ea typeface="Arial"/>
                <a:cs typeface="Arial"/>
                <a:sym typeface="Arial"/>
              </a:rPr>
              <a:t>Crediti e pacchetti casuali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096250" y="4181475"/>
            <a:ext cx="6475543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true">
                <a:solidFill>
                  <a:srgbClr val="BCA4EE"/>
                </a:solidFill>
                <a:latin typeface="Arial Bold"/>
                <a:ea typeface="Arial Bold"/>
                <a:cs typeface="Arial Bold"/>
                <a:sym typeface="Arial Bold"/>
              </a:rPr>
              <a:t>Effetti delle carte già nella modalità Base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38250" y="5057775"/>
            <a:ext cx="291225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>
                <a:solidFill>
                  <a:srgbClr val="D4D4D4"/>
                </a:solidFill>
                <a:latin typeface="Arial"/>
                <a:ea typeface="Arial"/>
                <a:cs typeface="Arial"/>
                <a:sym typeface="Arial"/>
              </a:rPr>
              <a:t>Collezione e mazzi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096250" y="5057775"/>
            <a:ext cx="7662786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true">
                <a:solidFill>
                  <a:srgbClr val="BCA4EE"/>
                </a:solidFill>
                <a:latin typeface="Arial Bold"/>
                <a:ea typeface="Arial Bold"/>
                <a:cs typeface="Arial Bold"/>
                <a:sym typeface="Arial Bold"/>
              </a:rPr>
              <a:t>Lord di fazione e copertine dei pacchetti a scelta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38250" y="5934075"/>
            <a:ext cx="1274178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>
                <a:solidFill>
                  <a:srgbClr val="D4D4D4"/>
                </a:solidFill>
                <a:latin typeface="Arial"/>
                <a:ea typeface="Arial"/>
                <a:cs typeface="Arial"/>
                <a:sym typeface="Arial"/>
              </a:rPr>
              <a:t>Scambi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096250" y="5934075"/>
            <a:ext cx="5449443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true">
                <a:solidFill>
                  <a:srgbClr val="BCA4EE"/>
                </a:solidFill>
                <a:latin typeface="Arial Bold"/>
                <a:ea typeface="Arial Bold"/>
                <a:cs typeface="Arial Bold"/>
                <a:sym typeface="Arial Bold"/>
              </a:rPr>
              <a:t>Full art: copia rara da collezionare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38250" y="6810375"/>
            <a:ext cx="5774712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>
                <a:solidFill>
                  <a:srgbClr val="D4D4D4"/>
                </a:solidFill>
                <a:latin typeface="Arial"/>
                <a:ea typeface="Arial"/>
                <a:cs typeface="Arial"/>
                <a:sym typeface="Arial"/>
              </a:rPr>
              <a:t>Sfide, risultato round per round, storico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096250" y="6810375"/>
            <a:ext cx="5754948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true">
                <a:solidFill>
                  <a:srgbClr val="BCA4EE"/>
                </a:solidFill>
                <a:latin typeface="Arial Bold"/>
                <a:ea typeface="Arial Bold"/>
                <a:cs typeface="Arial Bold"/>
                <a:sym typeface="Arial Bold"/>
              </a:rPr>
              <a:t>Set iniziale e pacchetti di benvenuto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38250" y="7686675"/>
            <a:ext cx="1688325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>
                <a:solidFill>
                  <a:srgbClr val="D4D4D4"/>
                </a:solidFill>
                <a:latin typeface="Arial"/>
                <a:ea typeface="Arial"/>
                <a:cs typeface="Arial"/>
                <a:sym typeface="Arial"/>
              </a:rPr>
              <a:t>Backoffice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096250" y="7686675"/>
            <a:ext cx="3509665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60"/>
              </a:lnSpc>
              <a:spcBef>
                <a:spcPct val="0"/>
              </a:spcBef>
            </a:pPr>
            <a:r>
              <a:rPr lang="en-US" b="true" sz="2550" strike="noStrike" u="none">
                <a:solidFill>
                  <a:srgbClr val="BCA4EE"/>
                </a:solidFill>
                <a:latin typeface="Arial Bold"/>
                <a:ea typeface="Arial Bold"/>
                <a:cs typeface="Arial Bold"/>
                <a:sym typeface="Arial Bold"/>
              </a:rPr>
              <a:t>Rank con leghe a tema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47750" y="8743950"/>
            <a:ext cx="8774013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40"/>
              </a:lnSpc>
              <a:spcBef>
                <a:spcPct val="0"/>
              </a:spcBef>
            </a:pPr>
            <a:r>
              <a:rPr lang="en-US" sz="2700" strike="noStrike" u="none">
                <a:solidFill>
                  <a:srgbClr val="E9E7F2"/>
                </a:solidFill>
                <a:latin typeface="Georgia"/>
                <a:ea typeface="Georgia"/>
                <a:cs typeface="Georgia"/>
                <a:sym typeface="Georgia"/>
              </a:rPr>
              <a:t>Tutte le richieste del brief, più quello che proponiamo noi.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el-001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4" r="-1024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 descr="el-002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4" r="-909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857250" y="676275"/>
            <a:ext cx="11430000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659"/>
              </a:lnSpc>
              <a:spcBef>
                <a:spcPct val="0"/>
              </a:spcBef>
            </a:pPr>
            <a:r>
              <a:rPr lang="en-US" sz="5550" strike="noStrike" u="none">
                <a:solidFill>
                  <a:srgbClr val="E9E7F2"/>
                </a:solidFill>
                <a:latin typeface="Georgia"/>
                <a:ea typeface="Georgia"/>
                <a:cs typeface="Georgia"/>
                <a:sym typeface="Georgia"/>
              </a:rPr>
              <a:t>Architettura e frontend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47725" y="2276475"/>
            <a:ext cx="3638550" cy="1733550"/>
            <a:chOff x="0" y="0"/>
            <a:chExt cx="4851400" cy="2311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851400" cy="2311400"/>
            </a:xfrm>
            <a:custGeom>
              <a:avLst/>
              <a:gdLst/>
              <a:ahLst/>
              <a:cxnLst/>
              <a:rect r="r" b="b" t="t" l="l"/>
              <a:pathLst>
                <a:path h="2311400" w="4851400">
                  <a:moveTo>
                    <a:pt x="0" y="205486"/>
                  </a:moveTo>
                  <a:cubicBezTo>
                    <a:pt x="0" y="91948"/>
                    <a:pt x="91948" y="0"/>
                    <a:pt x="205486" y="0"/>
                  </a:cubicBezTo>
                  <a:lnTo>
                    <a:pt x="4645914" y="0"/>
                  </a:lnTo>
                  <a:cubicBezTo>
                    <a:pt x="4759452" y="0"/>
                    <a:pt x="4851400" y="91948"/>
                    <a:pt x="4851400" y="205486"/>
                  </a:cubicBezTo>
                  <a:lnTo>
                    <a:pt x="4851400" y="2105914"/>
                  </a:lnTo>
                  <a:cubicBezTo>
                    <a:pt x="4851400" y="2219325"/>
                    <a:pt x="4759452" y="2311400"/>
                    <a:pt x="4645914" y="2311400"/>
                  </a:cubicBezTo>
                  <a:lnTo>
                    <a:pt x="205486" y="2311400"/>
                  </a:lnTo>
                  <a:cubicBezTo>
                    <a:pt x="91948" y="2311400"/>
                    <a:pt x="0" y="2219452"/>
                    <a:pt x="0" y="2105914"/>
                  </a:cubicBezTo>
                  <a:close/>
                </a:path>
              </a:pathLst>
            </a:custGeom>
            <a:solidFill>
              <a:srgbClr val="0B0A12"/>
            </a:solidFill>
            <a:ln w="19050" cap="sq">
              <a:solidFill>
                <a:srgbClr val="B2A0DE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1143000" y="2647950"/>
            <a:ext cx="304800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60"/>
              </a:lnSpc>
              <a:spcBef>
                <a:spcPct val="0"/>
              </a:spcBef>
            </a:pPr>
            <a:r>
              <a:rPr lang="en-US" sz="3300" strike="noStrike" u="none">
                <a:solidFill>
                  <a:srgbClr val="E9E7F2"/>
                </a:solidFill>
                <a:latin typeface="Georgia"/>
                <a:ea typeface="Georgia"/>
                <a:cs typeface="Georgia"/>
                <a:sym typeface="Georgia"/>
              </a:rPr>
              <a:t>Frontend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43000" y="3314700"/>
            <a:ext cx="323850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40"/>
              </a:lnSpc>
              <a:spcBef>
                <a:spcPct val="0"/>
              </a:spcBef>
            </a:pPr>
            <a:r>
              <a:rPr lang="en-US" sz="1950" strike="noStrike" u="none">
                <a:solidFill>
                  <a:srgbClr val="B9B9B9"/>
                </a:solidFill>
                <a:latin typeface="Arial"/>
                <a:ea typeface="Arial"/>
                <a:cs typeface="Arial"/>
                <a:sym typeface="Arial"/>
              </a:rPr>
              <a:t>HTML, CSS, JavaScript</a:t>
            </a:r>
          </a:p>
        </p:txBody>
      </p:sp>
      <p:sp>
        <p:nvSpPr>
          <p:cNvPr name="AutoShape 11" id="11"/>
          <p:cNvSpPr/>
          <p:nvPr/>
        </p:nvSpPr>
        <p:spPr>
          <a:xfrm>
            <a:off x="4495800" y="3143250"/>
            <a:ext cx="419100" cy="0"/>
          </a:xfrm>
          <a:prstGeom prst="line">
            <a:avLst/>
          </a:prstGeom>
          <a:ln cap="rnd" w="19050">
            <a:solidFill>
              <a:srgbClr val="B2A0D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5400000">
            <a:off x="4895850" y="3057525"/>
            <a:ext cx="171450" cy="171450"/>
            <a:chOff x="0" y="0"/>
            <a:chExt cx="228600" cy="228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8600" cy="228600"/>
            </a:xfrm>
            <a:custGeom>
              <a:avLst/>
              <a:gdLst/>
              <a:ahLst/>
              <a:cxnLst/>
              <a:rect r="r" b="b" t="t" l="l"/>
              <a:pathLst>
                <a:path h="228600" w="228600">
                  <a:moveTo>
                    <a:pt x="0" y="228600"/>
                  </a:moveTo>
                  <a:lnTo>
                    <a:pt x="114300" y="0"/>
                  </a:lnTo>
                  <a:lnTo>
                    <a:pt x="228600" y="228600"/>
                  </a:lnTo>
                  <a:close/>
                </a:path>
              </a:pathLst>
            </a:custGeom>
            <a:solidFill>
              <a:srgbClr val="B2A0DE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133975" y="2276475"/>
            <a:ext cx="3638550" cy="1733550"/>
            <a:chOff x="0" y="0"/>
            <a:chExt cx="4851400" cy="2311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851400" cy="2311400"/>
            </a:xfrm>
            <a:custGeom>
              <a:avLst/>
              <a:gdLst/>
              <a:ahLst/>
              <a:cxnLst/>
              <a:rect r="r" b="b" t="t" l="l"/>
              <a:pathLst>
                <a:path h="2311400" w="4851400">
                  <a:moveTo>
                    <a:pt x="0" y="205486"/>
                  </a:moveTo>
                  <a:cubicBezTo>
                    <a:pt x="0" y="91948"/>
                    <a:pt x="91948" y="0"/>
                    <a:pt x="205486" y="0"/>
                  </a:cubicBezTo>
                  <a:lnTo>
                    <a:pt x="4645914" y="0"/>
                  </a:lnTo>
                  <a:cubicBezTo>
                    <a:pt x="4759452" y="0"/>
                    <a:pt x="4851400" y="91948"/>
                    <a:pt x="4851400" y="205486"/>
                  </a:cubicBezTo>
                  <a:lnTo>
                    <a:pt x="4851400" y="2105914"/>
                  </a:lnTo>
                  <a:cubicBezTo>
                    <a:pt x="4851400" y="2219325"/>
                    <a:pt x="4759452" y="2311400"/>
                    <a:pt x="4645914" y="2311400"/>
                  </a:cubicBezTo>
                  <a:lnTo>
                    <a:pt x="205486" y="2311400"/>
                  </a:lnTo>
                  <a:cubicBezTo>
                    <a:pt x="91948" y="2311400"/>
                    <a:pt x="0" y="2219452"/>
                    <a:pt x="0" y="2105914"/>
                  </a:cubicBezTo>
                  <a:close/>
                </a:path>
              </a:pathLst>
            </a:custGeom>
            <a:solidFill>
              <a:srgbClr val="0B0A12"/>
            </a:solidFill>
            <a:ln w="19050" cap="sq">
              <a:solidFill>
                <a:srgbClr val="B2A0DE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5429250" y="2647950"/>
            <a:ext cx="2114902" cy="544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E9E7F2"/>
                </a:solidFill>
                <a:latin typeface="Georgia"/>
                <a:ea typeface="Georgia"/>
                <a:cs typeface="Georgia"/>
                <a:sym typeface="Georgia"/>
              </a:rPr>
              <a:t>API REST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429250" y="3314700"/>
            <a:ext cx="2777452" cy="34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B9B9B9"/>
                </a:solidFill>
                <a:latin typeface="Arial"/>
                <a:ea typeface="Arial"/>
                <a:cs typeface="Arial"/>
                <a:sym typeface="Arial"/>
              </a:rPr>
              <a:t>accesso con token JWT</a:t>
            </a:r>
          </a:p>
        </p:txBody>
      </p:sp>
      <p:sp>
        <p:nvSpPr>
          <p:cNvPr name="AutoShape 18" id="18"/>
          <p:cNvSpPr/>
          <p:nvPr/>
        </p:nvSpPr>
        <p:spPr>
          <a:xfrm>
            <a:off x="8782050" y="3143250"/>
            <a:ext cx="419100" cy="0"/>
          </a:xfrm>
          <a:prstGeom prst="line">
            <a:avLst/>
          </a:prstGeom>
          <a:ln cap="rnd" w="19050">
            <a:solidFill>
              <a:srgbClr val="B2A0D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9" id="19"/>
          <p:cNvGrpSpPr/>
          <p:nvPr/>
        </p:nvGrpSpPr>
        <p:grpSpPr>
          <a:xfrm rot="5400000">
            <a:off x="9182100" y="3057525"/>
            <a:ext cx="171450" cy="171450"/>
            <a:chOff x="0" y="0"/>
            <a:chExt cx="228600" cy="2286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28600" cy="228600"/>
            </a:xfrm>
            <a:custGeom>
              <a:avLst/>
              <a:gdLst/>
              <a:ahLst/>
              <a:cxnLst/>
              <a:rect r="r" b="b" t="t" l="l"/>
              <a:pathLst>
                <a:path h="228600" w="228600">
                  <a:moveTo>
                    <a:pt x="0" y="228600"/>
                  </a:moveTo>
                  <a:lnTo>
                    <a:pt x="114300" y="0"/>
                  </a:lnTo>
                  <a:lnTo>
                    <a:pt x="228600" y="228600"/>
                  </a:lnTo>
                  <a:close/>
                </a:path>
              </a:pathLst>
            </a:custGeom>
            <a:solidFill>
              <a:srgbClr val="B2A0DE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9420225" y="2276475"/>
            <a:ext cx="3638550" cy="1733550"/>
            <a:chOff x="0" y="0"/>
            <a:chExt cx="4851400" cy="23114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851400" cy="2311400"/>
            </a:xfrm>
            <a:custGeom>
              <a:avLst/>
              <a:gdLst/>
              <a:ahLst/>
              <a:cxnLst/>
              <a:rect r="r" b="b" t="t" l="l"/>
              <a:pathLst>
                <a:path h="2311400" w="4851400">
                  <a:moveTo>
                    <a:pt x="0" y="205486"/>
                  </a:moveTo>
                  <a:cubicBezTo>
                    <a:pt x="0" y="91948"/>
                    <a:pt x="91948" y="0"/>
                    <a:pt x="205486" y="0"/>
                  </a:cubicBezTo>
                  <a:lnTo>
                    <a:pt x="4645914" y="0"/>
                  </a:lnTo>
                  <a:cubicBezTo>
                    <a:pt x="4759452" y="0"/>
                    <a:pt x="4851400" y="91948"/>
                    <a:pt x="4851400" y="205486"/>
                  </a:cubicBezTo>
                  <a:lnTo>
                    <a:pt x="4851400" y="2105914"/>
                  </a:lnTo>
                  <a:cubicBezTo>
                    <a:pt x="4851400" y="2219325"/>
                    <a:pt x="4759452" y="2311400"/>
                    <a:pt x="4645914" y="2311400"/>
                  </a:cubicBezTo>
                  <a:lnTo>
                    <a:pt x="205486" y="2311400"/>
                  </a:lnTo>
                  <a:cubicBezTo>
                    <a:pt x="91948" y="2311400"/>
                    <a:pt x="0" y="2219452"/>
                    <a:pt x="0" y="2105914"/>
                  </a:cubicBezTo>
                  <a:close/>
                </a:path>
              </a:pathLst>
            </a:custGeom>
            <a:solidFill>
              <a:srgbClr val="0B0A12"/>
            </a:solidFill>
            <a:ln w="19050" cap="sq">
              <a:solidFill>
                <a:srgbClr val="B2A0DE"/>
              </a:solidFill>
              <a:prstDash val="solid"/>
              <a:miter/>
            </a:ln>
          </p:spPr>
        </p:sp>
      </p:grpSp>
      <p:sp>
        <p:nvSpPr>
          <p:cNvPr name="TextBox 23" id="23"/>
          <p:cNvSpPr txBox="true"/>
          <p:nvPr/>
        </p:nvSpPr>
        <p:spPr>
          <a:xfrm rot="0">
            <a:off x="9715500" y="2647950"/>
            <a:ext cx="2791025" cy="544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E9E7F2"/>
                </a:solidFill>
                <a:latin typeface="Georgia"/>
                <a:ea typeface="Georgia"/>
                <a:cs typeface="Georgia"/>
                <a:sym typeface="Georgia"/>
              </a:rPr>
              <a:t>Spring Boot 4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715500" y="3314700"/>
            <a:ext cx="2647102" cy="34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B9B9B9"/>
                </a:solidFill>
                <a:latin typeface="Arial"/>
                <a:ea typeface="Arial"/>
                <a:cs typeface="Arial"/>
                <a:sym typeface="Arial"/>
              </a:rPr>
              <a:t>Java + motore di gioco</a:t>
            </a:r>
          </a:p>
        </p:txBody>
      </p:sp>
      <p:sp>
        <p:nvSpPr>
          <p:cNvPr name="AutoShape 25" id="25"/>
          <p:cNvSpPr/>
          <p:nvPr/>
        </p:nvSpPr>
        <p:spPr>
          <a:xfrm>
            <a:off x="13068300" y="3143250"/>
            <a:ext cx="419100" cy="0"/>
          </a:xfrm>
          <a:prstGeom prst="line">
            <a:avLst/>
          </a:prstGeom>
          <a:ln cap="rnd" w="19050">
            <a:solidFill>
              <a:srgbClr val="B2A0D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6" id="26"/>
          <p:cNvGrpSpPr/>
          <p:nvPr/>
        </p:nvGrpSpPr>
        <p:grpSpPr>
          <a:xfrm rot="5400000">
            <a:off x="13468350" y="3057525"/>
            <a:ext cx="171450" cy="171450"/>
            <a:chOff x="0" y="0"/>
            <a:chExt cx="228600" cy="2286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28600" cy="228600"/>
            </a:xfrm>
            <a:custGeom>
              <a:avLst/>
              <a:gdLst/>
              <a:ahLst/>
              <a:cxnLst/>
              <a:rect r="r" b="b" t="t" l="l"/>
              <a:pathLst>
                <a:path h="228600" w="228600">
                  <a:moveTo>
                    <a:pt x="0" y="228600"/>
                  </a:moveTo>
                  <a:lnTo>
                    <a:pt x="114300" y="0"/>
                  </a:lnTo>
                  <a:lnTo>
                    <a:pt x="228600" y="228600"/>
                  </a:lnTo>
                  <a:close/>
                </a:path>
              </a:pathLst>
            </a:custGeom>
            <a:solidFill>
              <a:srgbClr val="B2A0DE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3706475" y="2276475"/>
            <a:ext cx="3638550" cy="1733550"/>
            <a:chOff x="0" y="0"/>
            <a:chExt cx="4851400" cy="23114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851400" cy="2311400"/>
            </a:xfrm>
            <a:custGeom>
              <a:avLst/>
              <a:gdLst/>
              <a:ahLst/>
              <a:cxnLst/>
              <a:rect r="r" b="b" t="t" l="l"/>
              <a:pathLst>
                <a:path h="2311400" w="4851400">
                  <a:moveTo>
                    <a:pt x="0" y="205486"/>
                  </a:moveTo>
                  <a:cubicBezTo>
                    <a:pt x="0" y="91948"/>
                    <a:pt x="91948" y="0"/>
                    <a:pt x="205486" y="0"/>
                  </a:cubicBezTo>
                  <a:lnTo>
                    <a:pt x="4645914" y="0"/>
                  </a:lnTo>
                  <a:cubicBezTo>
                    <a:pt x="4759452" y="0"/>
                    <a:pt x="4851400" y="91948"/>
                    <a:pt x="4851400" y="205486"/>
                  </a:cubicBezTo>
                  <a:lnTo>
                    <a:pt x="4851400" y="2105914"/>
                  </a:lnTo>
                  <a:cubicBezTo>
                    <a:pt x="4851400" y="2219325"/>
                    <a:pt x="4759452" y="2311400"/>
                    <a:pt x="4645914" y="2311400"/>
                  </a:cubicBezTo>
                  <a:lnTo>
                    <a:pt x="205486" y="2311400"/>
                  </a:lnTo>
                  <a:cubicBezTo>
                    <a:pt x="91948" y="2311400"/>
                    <a:pt x="0" y="2219452"/>
                    <a:pt x="0" y="2105914"/>
                  </a:cubicBezTo>
                  <a:close/>
                </a:path>
              </a:pathLst>
            </a:custGeom>
            <a:solidFill>
              <a:srgbClr val="0B0A12"/>
            </a:solidFill>
            <a:ln w="19050" cap="sq">
              <a:solidFill>
                <a:srgbClr val="B2A0DE"/>
              </a:solidFill>
              <a:prstDash val="solid"/>
              <a:miter/>
            </a:ln>
          </p:spPr>
        </p:sp>
      </p:grpSp>
      <p:sp>
        <p:nvSpPr>
          <p:cNvPr name="TextBox 30" id="30"/>
          <p:cNvSpPr txBox="true"/>
          <p:nvPr/>
        </p:nvSpPr>
        <p:spPr>
          <a:xfrm rot="0">
            <a:off x="14001750" y="2647950"/>
            <a:ext cx="2977448" cy="544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E9E7F2"/>
                </a:solidFill>
                <a:latin typeface="Georgia"/>
                <a:ea typeface="Georgia"/>
                <a:cs typeface="Georgia"/>
                <a:sym typeface="Georgia"/>
              </a:rPr>
              <a:t>PostgreSQL 18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4001750" y="3314700"/>
            <a:ext cx="2254339" cy="34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B9B9B9"/>
                </a:solidFill>
                <a:latin typeface="Arial"/>
                <a:ea typeface="Arial"/>
                <a:cs typeface="Arial"/>
                <a:sym typeface="Arial"/>
              </a:rPr>
              <a:t>transazioni, Flyway</a:t>
            </a:r>
          </a:p>
        </p:txBody>
      </p:sp>
      <p:sp>
        <p:nvSpPr>
          <p:cNvPr name="AutoShape 32" id="32"/>
          <p:cNvSpPr/>
          <p:nvPr/>
        </p:nvSpPr>
        <p:spPr>
          <a:xfrm>
            <a:off x="857250" y="4933950"/>
            <a:ext cx="0" cy="1371600"/>
          </a:xfrm>
          <a:prstGeom prst="line">
            <a:avLst/>
          </a:prstGeom>
          <a:ln cap="rnd" w="28575">
            <a:solidFill>
              <a:srgbClr val="B2A0D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3" id="33"/>
          <p:cNvSpPr txBox="true"/>
          <p:nvPr/>
        </p:nvSpPr>
        <p:spPr>
          <a:xfrm rot="0">
            <a:off x="1143000" y="4981575"/>
            <a:ext cx="476250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60"/>
              </a:lnSpc>
              <a:spcBef>
                <a:spcPct val="0"/>
              </a:spcBef>
            </a:pPr>
            <a:r>
              <a:rPr lang="en-US" b="true" sz="2550" strike="noStrike" u="none">
                <a:solidFill>
                  <a:srgbClr val="BCA4EE"/>
                </a:solidFill>
                <a:latin typeface="Arial Bold"/>
                <a:ea typeface="Arial Bold"/>
                <a:cs typeface="Arial Bold"/>
                <a:sym typeface="Arial Bold"/>
              </a:rPr>
              <a:t>Motore di gioco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43000" y="5410200"/>
            <a:ext cx="7239000" cy="868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10"/>
              </a:lnSpc>
              <a:spcBef>
                <a:spcPct val="0"/>
              </a:spcBef>
            </a:pPr>
            <a:r>
              <a:rPr lang="en-US" sz="2250" strike="noStrike" u="none">
                <a:solidFill>
                  <a:srgbClr val="D4D4D4"/>
                </a:solidFill>
                <a:latin typeface="Arial"/>
                <a:ea typeface="Arial"/>
                <a:cs typeface="Arial"/>
                <a:sym typeface="Arial"/>
              </a:rPr>
              <a:t>Simula le partite sul server; con migliaia di partite di prova bilanciamo le carte</a:t>
            </a:r>
          </a:p>
        </p:txBody>
      </p:sp>
      <p:sp>
        <p:nvSpPr>
          <p:cNvPr name="AutoShape 35" id="35"/>
          <p:cNvSpPr/>
          <p:nvPr/>
        </p:nvSpPr>
        <p:spPr>
          <a:xfrm>
            <a:off x="9239250" y="4933950"/>
            <a:ext cx="0" cy="1371600"/>
          </a:xfrm>
          <a:prstGeom prst="line">
            <a:avLst/>
          </a:prstGeom>
          <a:ln cap="rnd" w="28575">
            <a:solidFill>
              <a:srgbClr val="B2A0D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6" id="36"/>
          <p:cNvSpPr txBox="true"/>
          <p:nvPr/>
        </p:nvSpPr>
        <p:spPr>
          <a:xfrm rot="0">
            <a:off x="9525000" y="4981575"/>
            <a:ext cx="2731665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true">
                <a:solidFill>
                  <a:srgbClr val="BCA4EE"/>
                </a:solidFill>
                <a:latin typeface="Arial Bold"/>
                <a:ea typeface="Arial Bold"/>
                <a:cs typeface="Arial Bold"/>
                <a:sym typeface="Arial Bold"/>
              </a:rPr>
              <a:t>Tutto lato server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525000" y="5410200"/>
            <a:ext cx="7239000" cy="868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10"/>
              </a:lnSpc>
              <a:spcBef>
                <a:spcPct val="0"/>
              </a:spcBef>
            </a:pPr>
            <a:r>
              <a:rPr lang="en-US" sz="2250" strike="noStrike" u="none">
                <a:solidFill>
                  <a:srgbClr val="D4D4D4"/>
                </a:solidFill>
                <a:latin typeface="Arial"/>
                <a:ea typeface="Arial"/>
                <a:cs typeface="Arial"/>
                <a:sym typeface="Arial"/>
              </a:rPr>
              <a:t>Pacchetti, partite e scambi in transazioni: nessuno può barare</a:t>
            </a:r>
          </a:p>
        </p:txBody>
      </p:sp>
      <p:sp>
        <p:nvSpPr>
          <p:cNvPr name="AutoShape 38" id="38"/>
          <p:cNvSpPr/>
          <p:nvPr/>
        </p:nvSpPr>
        <p:spPr>
          <a:xfrm>
            <a:off x="857250" y="6743700"/>
            <a:ext cx="0" cy="1371600"/>
          </a:xfrm>
          <a:prstGeom prst="line">
            <a:avLst/>
          </a:prstGeom>
          <a:ln cap="rnd" w="28575">
            <a:solidFill>
              <a:srgbClr val="B2A0D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9" id="39"/>
          <p:cNvSpPr txBox="true"/>
          <p:nvPr/>
        </p:nvSpPr>
        <p:spPr>
          <a:xfrm rot="0">
            <a:off x="1143000" y="6791325"/>
            <a:ext cx="476250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60"/>
              </a:lnSpc>
              <a:spcBef>
                <a:spcPct val="0"/>
              </a:spcBef>
            </a:pPr>
            <a:r>
              <a:rPr lang="en-US" b="true" sz="2550" strike="noStrike" u="none">
                <a:solidFill>
                  <a:srgbClr val="BCA4EE"/>
                </a:solidFill>
                <a:latin typeface="Arial Bold"/>
                <a:ea typeface="Arial Bold"/>
                <a:cs typeface="Arial Bold"/>
                <a:sym typeface="Arial Bold"/>
              </a:rPr>
              <a:t>Frontend leggero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143000" y="7219950"/>
            <a:ext cx="7239000" cy="868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10"/>
              </a:lnSpc>
              <a:spcBef>
                <a:spcPct val="0"/>
              </a:spcBef>
            </a:pPr>
            <a:r>
              <a:rPr lang="en-US" sz="2250" strike="noStrike" u="none">
                <a:solidFill>
                  <a:srgbClr val="D4D4D4"/>
                </a:solidFill>
                <a:latin typeface="Arial"/>
                <a:ea typeface="Arial"/>
                <a:cs typeface="Arial"/>
                <a:sym typeface="Arial"/>
              </a:rPr>
              <a:t>Senza framework, responsive per smartphone, tablet e PC, accessibile e indicizzato</a:t>
            </a:r>
          </a:p>
        </p:txBody>
      </p:sp>
      <p:sp>
        <p:nvSpPr>
          <p:cNvPr name="AutoShape 41" id="41"/>
          <p:cNvSpPr/>
          <p:nvPr/>
        </p:nvSpPr>
        <p:spPr>
          <a:xfrm flipH="true">
            <a:off x="9239250" y="6743700"/>
            <a:ext cx="0" cy="1371600"/>
          </a:xfrm>
          <a:prstGeom prst="line">
            <a:avLst/>
          </a:prstGeom>
          <a:ln cap="rnd" w="28575">
            <a:solidFill>
              <a:srgbClr val="B2A0D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2" id="42"/>
          <p:cNvSpPr txBox="true"/>
          <p:nvPr/>
        </p:nvSpPr>
        <p:spPr>
          <a:xfrm rot="0">
            <a:off x="9525000" y="6791325"/>
            <a:ext cx="571500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60"/>
              </a:lnSpc>
              <a:spcBef>
                <a:spcPct val="0"/>
              </a:spcBef>
            </a:pPr>
            <a:r>
              <a:rPr lang="en-US" b="true" sz="2550" strike="noStrike" u="none">
                <a:solidFill>
                  <a:srgbClr val="BCA4EE"/>
                </a:solidFill>
                <a:latin typeface="Arial Bold"/>
                <a:ea typeface="Arial Bold"/>
                <a:cs typeface="Arial Bold"/>
                <a:sym typeface="Arial Bold"/>
              </a:rPr>
              <a:t>La carta la monta il frontend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525000" y="7219950"/>
            <a:ext cx="7239000" cy="868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10"/>
              </a:lnSpc>
              <a:spcBef>
                <a:spcPct val="0"/>
              </a:spcBef>
            </a:pPr>
            <a:r>
              <a:rPr lang="en-US" sz="2250" strike="noStrike" u="none">
                <a:solidFill>
                  <a:srgbClr val="D4D4D4"/>
                </a:solidFill>
                <a:latin typeface="Arial"/>
                <a:ea typeface="Arial"/>
                <a:cs typeface="Arial"/>
                <a:sym typeface="Arial"/>
              </a:rPr>
              <a:t>Il backend manda solo i dati: se cambia una statistica, le carte si aggiornano da sole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857250" y="9267825"/>
            <a:ext cx="1428750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40"/>
              </a:lnSpc>
              <a:spcBef>
                <a:spcPct val="0"/>
              </a:spcBef>
            </a:pPr>
            <a:r>
              <a:rPr lang="en-US" sz="1950" strike="noStrike" u="none">
                <a:solidFill>
                  <a:srgbClr val="B9B9B9"/>
                </a:solidFill>
                <a:latin typeface="Arial"/>
                <a:ea typeface="Arial"/>
                <a:cs typeface="Arial"/>
                <a:sym typeface="Arial"/>
              </a:rPr>
              <a:t>Password cifrate e token JWT · tutto in Docker · test con JUnit e Testcontainers · codice e board su GitHub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el-001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4" r="-1024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 descr="el-002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4" r="-909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857250" y="361950"/>
            <a:ext cx="2680230" cy="34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B9B9B9"/>
                </a:solidFill>
                <a:latin typeface="Arial Bold"/>
                <a:ea typeface="Arial Bold"/>
                <a:cs typeface="Arial Bold"/>
                <a:sym typeface="Arial Bold"/>
              </a:rPr>
              <a:t>WEB DEVELOPMENT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57250" y="676275"/>
            <a:ext cx="5013731" cy="925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59"/>
              </a:lnSpc>
            </a:pPr>
            <a:r>
              <a:rPr lang="en-US" sz="5550">
                <a:solidFill>
                  <a:srgbClr val="E9E7F2"/>
                </a:solidFill>
                <a:latin typeface="Georgia"/>
                <a:ea typeface="Georgia"/>
                <a:cs typeface="Georgia"/>
                <a:sym typeface="Georgia"/>
              </a:rPr>
              <a:t>Mappa del sito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57250" y="2190750"/>
            <a:ext cx="3810000" cy="57150"/>
            <a:chOff x="0" y="0"/>
            <a:chExt cx="5080000" cy="76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080000" cy="76200"/>
            </a:xfrm>
            <a:custGeom>
              <a:avLst/>
              <a:gdLst/>
              <a:ahLst/>
              <a:cxnLst/>
              <a:rect r="r" b="b" t="t" l="l"/>
              <a:pathLst>
                <a:path h="762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B2A0DE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857250" y="2486025"/>
            <a:ext cx="1607887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2850">
                <a:solidFill>
                  <a:srgbClr val="E9E7F2"/>
                </a:solidFill>
                <a:latin typeface="Georgia"/>
                <a:ea typeface="Georgia"/>
                <a:cs typeface="Georgia"/>
                <a:sym typeface="Georgia"/>
              </a:rPr>
              <a:t>Pubblica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57250" y="3219450"/>
            <a:ext cx="933679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D4D4D4"/>
                </a:solidFill>
                <a:latin typeface="Arial"/>
                <a:ea typeface="Arial"/>
                <a:cs typeface="Arial"/>
                <a:sym typeface="Arial"/>
              </a:rPr>
              <a:t>Home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57250" y="3810000"/>
            <a:ext cx="2172814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D4D4D4"/>
                </a:solidFill>
                <a:latin typeface="Arial"/>
                <a:ea typeface="Arial"/>
                <a:cs typeface="Arial"/>
                <a:sym typeface="Arial"/>
              </a:rPr>
              <a:t>Il gioco e la lore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57250" y="4400550"/>
            <a:ext cx="1871158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D4D4D4"/>
                </a:solidFill>
                <a:latin typeface="Arial"/>
                <a:ea typeface="Arial"/>
                <a:cs typeface="Arial"/>
                <a:sym typeface="Arial"/>
              </a:rPr>
              <a:t>Regolamento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57250" y="4991100"/>
            <a:ext cx="1441837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D4D4D4"/>
                </a:solidFill>
                <a:latin typeface="Arial"/>
                <a:ea typeface="Arial"/>
                <a:cs typeface="Arial"/>
                <a:sym typeface="Arial"/>
              </a:rPr>
              <a:t>Chi siamo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57250" y="5581650"/>
            <a:ext cx="115623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D4D4D4"/>
                </a:solidFill>
                <a:latin typeface="Arial"/>
                <a:ea typeface="Arial"/>
                <a:cs typeface="Arial"/>
                <a:sym typeface="Arial"/>
              </a:rPr>
              <a:t>Contatti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57250" y="6172200"/>
            <a:ext cx="2220116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D4D4D4"/>
                </a:solidFill>
                <a:latin typeface="Arial"/>
                <a:ea typeface="Arial"/>
                <a:cs typeface="Arial"/>
                <a:sym typeface="Arial"/>
              </a:rPr>
              <a:t>FAQ e glossario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57250" y="6762750"/>
            <a:ext cx="2283323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D4D4D4"/>
                </a:solidFill>
                <a:latin typeface="Arial"/>
                <a:ea typeface="Arial"/>
                <a:cs typeface="Arial"/>
                <a:sym typeface="Arial"/>
              </a:rPr>
              <a:t>Privacy e termini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5095875" y="2190750"/>
            <a:ext cx="3810000" cy="57150"/>
            <a:chOff x="0" y="0"/>
            <a:chExt cx="5080000" cy="762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080000" cy="76200"/>
            </a:xfrm>
            <a:custGeom>
              <a:avLst/>
              <a:gdLst/>
              <a:ahLst/>
              <a:cxnLst/>
              <a:rect r="r" b="b" t="t" l="l"/>
              <a:pathLst>
                <a:path h="762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B2A0DE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5095875" y="2486025"/>
            <a:ext cx="1471622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2850">
                <a:solidFill>
                  <a:srgbClr val="E9E7F2"/>
                </a:solidFill>
                <a:latin typeface="Georgia"/>
                <a:ea typeface="Georgia"/>
                <a:cs typeface="Georgia"/>
                <a:sym typeface="Georgia"/>
              </a:rPr>
              <a:t>Accesso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095875" y="3219450"/>
            <a:ext cx="1918602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D4D4D4"/>
                </a:solidFill>
                <a:latin typeface="Arial"/>
                <a:ea typeface="Arial"/>
                <a:cs typeface="Arial"/>
                <a:sym typeface="Arial"/>
              </a:rPr>
              <a:t>Registrazione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095875" y="3810000"/>
            <a:ext cx="1251385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D4D4D4"/>
                </a:solidFill>
                <a:latin typeface="Arial"/>
                <a:ea typeface="Arial"/>
                <a:cs typeface="Arial"/>
                <a:sym typeface="Arial"/>
              </a:rPr>
              <a:t>Accesso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095875" y="4400550"/>
            <a:ext cx="2966723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D4D4D4"/>
                </a:solidFill>
                <a:latin typeface="Arial"/>
                <a:ea typeface="Arial"/>
                <a:cs typeface="Arial"/>
                <a:sym typeface="Arial"/>
              </a:rPr>
              <a:t>Password dimenticata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334500" y="2190750"/>
            <a:ext cx="3810000" cy="57150"/>
            <a:chOff x="0" y="0"/>
            <a:chExt cx="5080000" cy="762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080000" cy="76200"/>
            </a:xfrm>
            <a:custGeom>
              <a:avLst/>
              <a:gdLst/>
              <a:ahLst/>
              <a:cxnLst/>
              <a:rect r="r" b="b" t="t" l="l"/>
              <a:pathLst>
                <a:path h="762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B2A0DE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9334500" y="2486025"/>
            <a:ext cx="3849395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2850">
                <a:solidFill>
                  <a:srgbClr val="E9E7F2"/>
                </a:solidFill>
                <a:latin typeface="Georgia"/>
                <a:ea typeface="Georgia"/>
                <a:cs typeface="Georgia"/>
                <a:sym typeface="Georgia"/>
              </a:rPr>
              <a:t>Area del Dreamweaver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334500" y="3219450"/>
            <a:ext cx="153783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D4D4D4"/>
                </a:solidFill>
                <a:latin typeface="Arial"/>
                <a:ea typeface="Arial"/>
                <a:cs typeface="Arial"/>
                <a:sym typeface="Arial"/>
              </a:rPr>
              <a:t>Benvenuto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334500" y="3810000"/>
            <a:ext cx="2665343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D4D4D4"/>
                </a:solidFill>
                <a:latin typeface="Arial"/>
                <a:ea typeface="Arial"/>
                <a:cs typeface="Arial"/>
                <a:sym typeface="Arial"/>
              </a:rPr>
              <a:t>Dashboard e profilo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334500" y="4400550"/>
            <a:ext cx="2315832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D4D4D4"/>
                </a:solidFill>
                <a:latin typeface="Arial"/>
                <a:ea typeface="Arial"/>
                <a:cs typeface="Arial"/>
                <a:sym typeface="Arial"/>
              </a:rPr>
              <a:t>Crediti e negozio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334500" y="4991100"/>
            <a:ext cx="1505741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D4D4D4"/>
                </a:solidFill>
                <a:latin typeface="Arial"/>
                <a:ea typeface="Arial"/>
                <a:cs typeface="Arial"/>
                <a:sym typeface="Arial"/>
              </a:rPr>
              <a:t>Collezione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334500" y="5581650"/>
            <a:ext cx="2109054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D4D4D4"/>
                </a:solidFill>
                <a:latin typeface="Arial"/>
                <a:ea typeface="Arial"/>
                <a:cs typeface="Arial"/>
                <a:sym typeface="Arial"/>
              </a:rPr>
              <a:t>Mazzi ed editor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334500" y="6172200"/>
            <a:ext cx="2092728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D4D4D4"/>
                </a:solidFill>
                <a:latin typeface="Arial"/>
                <a:ea typeface="Arial"/>
                <a:cs typeface="Arial"/>
                <a:sym typeface="Arial"/>
              </a:rPr>
              <a:t>Amici e scambi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334500" y="6762750"/>
            <a:ext cx="1982086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D4D4D4"/>
                </a:solidFill>
                <a:latin typeface="Arial"/>
                <a:ea typeface="Arial"/>
                <a:cs typeface="Arial"/>
                <a:sym typeface="Arial"/>
              </a:rPr>
              <a:t>Sfide e storico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3573125" y="2190750"/>
            <a:ext cx="3810000" cy="57150"/>
            <a:chOff x="0" y="0"/>
            <a:chExt cx="5080000" cy="762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080000" cy="76200"/>
            </a:xfrm>
            <a:custGeom>
              <a:avLst/>
              <a:gdLst/>
              <a:ahLst/>
              <a:cxnLst/>
              <a:rect r="r" b="b" t="t" l="l"/>
              <a:pathLst>
                <a:path h="762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B2A0DE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13573125" y="2486025"/>
            <a:ext cx="1870339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2850">
                <a:solidFill>
                  <a:srgbClr val="E9E7F2"/>
                </a:solidFill>
                <a:latin typeface="Georgia"/>
                <a:ea typeface="Georgia"/>
                <a:cs typeface="Georgia"/>
                <a:sym typeface="Georgia"/>
              </a:rPr>
              <a:t>Backoffice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3573125" y="3219450"/>
            <a:ext cx="870194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D4D4D4"/>
                </a:solidFill>
                <a:latin typeface="Arial"/>
                <a:ea typeface="Arial"/>
                <a:cs typeface="Arial"/>
                <a:sym typeface="Arial"/>
              </a:rPr>
              <a:t>Carte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3573125" y="3810000"/>
            <a:ext cx="1346816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D4D4D4"/>
                </a:solidFill>
                <a:latin typeface="Arial"/>
                <a:ea typeface="Arial"/>
                <a:cs typeface="Arial"/>
                <a:sym typeface="Arial"/>
              </a:rPr>
              <a:t>Pacchetti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3573125" y="4400550"/>
            <a:ext cx="2093566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D4D4D4"/>
                </a:solidFill>
                <a:latin typeface="Arial"/>
                <a:ea typeface="Arial"/>
                <a:cs typeface="Arial"/>
                <a:sym typeface="Arial"/>
              </a:rPr>
              <a:t>Configurazione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3573125" y="4991100"/>
            <a:ext cx="1394403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D4D4D4"/>
                </a:solidFill>
                <a:latin typeface="Arial"/>
                <a:ea typeface="Arial"/>
                <a:cs typeface="Arial"/>
                <a:sym typeface="Arial"/>
              </a:rPr>
              <a:t>Messaggi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857250" y="8839200"/>
            <a:ext cx="9572454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B9B9B9"/>
                </a:solidFill>
                <a:latin typeface="Arial"/>
                <a:ea typeface="Arial"/>
                <a:cs typeface="Arial"/>
                <a:sym typeface="Arial"/>
              </a:rPr>
              <a:t>Circa 30 pagine; nel menu l'area del Dreamweaver si apre dopo l'accesso.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57250" y="361950"/>
            <a:ext cx="762000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40"/>
              </a:lnSpc>
              <a:spcBef>
                <a:spcPct val="0"/>
              </a:spcBef>
            </a:pPr>
            <a:r>
              <a:rPr lang="en-US" b="true" sz="1950" strike="noStrike" u="none">
                <a:solidFill>
                  <a:srgbClr val="B9B9B9"/>
                </a:solidFill>
                <a:latin typeface="Arial Bold"/>
                <a:ea typeface="Arial Bold"/>
                <a:cs typeface="Arial Bold"/>
                <a:sym typeface="Arial Bold"/>
              </a:rPr>
              <a:t>WEB DEVELOPMENT · WIREFRAME SMARTPHONE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57250" y="676275"/>
            <a:ext cx="3656000" cy="925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59"/>
              </a:lnSpc>
            </a:pPr>
            <a:r>
              <a:rPr lang="en-US" sz="5550">
                <a:solidFill>
                  <a:srgbClr val="E9E7F2"/>
                </a:solidFill>
                <a:latin typeface="Georgia"/>
                <a:ea typeface="Georgia"/>
                <a:cs typeface="Georgia"/>
                <a:sym typeface="Georgia"/>
              </a:rPr>
              <a:t>Collezione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5334000" y="1428750"/>
            <a:ext cx="4381500" cy="8572500"/>
            <a:chOff x="0" y="0"/>
            <a:chExt cx="5842000" cy="1143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842000" cy="11430000"/>
            </a:xfrm>
            <a:custGeom>
              <a:avLst/>
              <a:gdLst/>
              <a:ahLst/>
              <a:cxnLst/>
              <a:rect r="r" b="b" t="t" l="l"/>
              <a:pathLst>
                <a:path h="11430000" w="5842000">
                  <a:moveTo>
                    <a:pt x="0" y="200096"/>
                  </a:moveTo>
                  <a:cubicBezTo>
                    <a:pt x="0" y="89502"/>
                    <a:pt x="28178" y="0"/>
                    <a:pt x="62952" y="0"/>
                  </a:cubicBezTo>
                  <a:lnTo>
                    <a:pt x="5779003" y="0"/>
                  </a:lnTo>
                  <a:cubicBezTo>
                    <a:pt x="5813777" y="0"/>
                    <a:pt x="5842000" y="89502"/>
                    <a:pt x="5842000" y="199954"/>
                  </a:cubicBezTo>
                  <a:lnTo>
                    <a:pt x="5842000" y="11229904"/>
                  </a:lnTo>
                  <a:cubicBezTo>
                    <a:pt x="5842000" y="11340356"/>
                    <a:pt x="5813822" y="11430000"/>
                    <a:pt x="5779003" y="11430000"/>
                  </a:cubicBezTo>
                  <a:lnTo>
                    <a:pt x="62997" y="11430000"/>
                  </a:lnTo>
                  <a:cubicBezTo>
                    <a:pt x="28178" y="11430000"/>
                    <a:pt x="0" y="11340498"/>
                    <a:pt x="0" y="11229904"/>
                  </a:cubicBezTo>
                  <a:close/>
                </a:path>
              </a:pathLst>
            </a:custGeom>
            <a:solidFill>
              <a:srgbClr val="16151C"/>
            </a:solidFill>
            <a:ln w="19050" cap="sq">
              <a:solidFill>
                <a:srgbClr val="4A4858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5362575" y="1457325"/>
            <a:ext cx="4324350" cy="590550"/>
            <a:chOff x="0" y="0"/>
            <a:chExt cx="5765800" cy="787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765800" cy="787400"/>
            </a:xfrm>
            <a:custGeom>
              <a:avLst/>
              <a:gdLst/>
              <a:ahLst/>
              <a:cxnLst/>
              <a:rect r="r" b="b" t="t" l="l"/>
              <a:pathLst>
                <a:path h="787400" w="5765800">
                  <a:moveTo>
                    <a:pt x="0" y="0"/>
                  </a:moveTo>
                  <a:lnTo>
                    <a:pt x="5765800" y="0"/>
                  </a:lnTo>
                  <a:lnTo>
                    <a:pt x="5765800" y="787400"/>
                  </a:lnTo>
                  <a:lnTo>
                    <a:pt x="0" y="787400"/>
                  </a:lnTo>
                  <a:close/>
                </a:path>
              </a:pathLst>
            </a:custGeom>
            <a:solidFill>
              <a:srgbClr val="1E1D26"/>
            </a:solidFill>
          </p:spPr>
        </p:sp>
      </p:grpSp>
      <p:sp>
        <p:nvSpPr>
          <p:cNvPr name="AutoShape 8" id="8"/>
          <p:cNvSpPr/>
          <p:nvPr/>
        </p:nvSpPr>
        <p:spPr>
          <a:xfrm>
            <a:off x="5334000" y="2047875"/>
            <a:ext cx="4381500" cy="0"/>
          </a:xfrm>
          <a:prstGeom prst="line">
            <a:avLst/>
          </a:prstGeom>
          <a:ln cap="rnd" w="19050">
            <a:solidFill>
              <a:srgbClr val="4A485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5543550" y="1571625"/>
            <a:ext cx="1842354" cy="331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E9E7F2"/>
                </a:solidFill>
                <a:latin typeface="Georgia"/>
                <a:ea typeface="Georgia"/>
                <a:cs typeface="Georgia"/>
                <a:sym typeface="Georgia"/>
              </a:rPr>
              <a:t>DREAMSCAPE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496300" y="1600200"/>
            <a:ext cx="878979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8C8AA0"/>
                </a:solidFill>
                <a:latin typeface="Arial"/>
                <a:ea typeface="Arial"/>
                <a:cs typeface="Arial"/>
                <a:sym typeface="Arial"/>
              </a:rPr>
              <a:t>120 crediti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5362575" y="9286875"/>
            <a:ext cx="4324350" cy="685800"/>
            <a:chOff x="0" y="0"/>
            <a:chExt cx="5765800" cy="914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765800" cy="914400"/>
            </a:xfrm>
            <a:custGeom>
              <a:avLst/>
              <a:gdLst/>
              <a:ahLst/>
              <a:cxnLst/>
              <a:rect r="r" b="b" t="t" l="l"/>
              <a:pathLst>
                <a:path h="914400" w="5765800">
                  <a:moveTo>
                    <a:pt x="0" y="13855"/>
                  </a:moveTo>
                  <a:cubicBezTo>
                    <a:pt x="0" y="6207"/>
                    <a:pt x="95670" y="0"/>
                    <a:pt x="213548" y="0"/>
                  </a:cubicBezTo>
                  <a:lnTo>
                    <a:pt x="5552252" y="0"/>
                  </a:lnTo>
                  <a:cubicBezTo>
                    <a:pt x="5670130" y="0"/>
                    <a:pt x="5765800" y="6207"/>
                    <a:pt x="5765800" y="13855"/>
                  </a:cubicBezTo>
                  <a:lnTo>
                    <a:pt x="5765800" y="900545"/>
                  </a:lnTo>
                  <a:cubicBezTo>
                    <a:pt x="5765800" y="908193"/>
                    <a:pt x="5670130" y="914400"/>
                    <a:pt x="5552252" y="914400"/>
                  </a:cubicBezTo>
                  <a:lnTo>
                    <a:pt x="213548" y="914400"/>
                  </a:lnTo>
                  <a:cubicBezTo>
                    <a:pt x="95670" y="914400"/>
                    <a:pt x="0" y="908193"/>
                    <a:pt x="0" y="900545"/>
                  </a:cubicBezTo>
                  <a:close/>
                </a:path>
              </a:pathLst>
            </a:custGeom>
            <a:solidFill>
              <a:srgbClr val="1B1A22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5448300" y="2781300"/>
            <a:ext cx="933450" cy="381000"/>
            <a:chOff x="0" y="0"/>
            <a:chExt cx="1244600" cy="508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44600" cy="508000"/>
            </a:xfrm>
            <a:custGeom>
              <a:avLst/>
              <a:gdLst/>
              <a:ahLst/>
              <a:cxnLst/>
              <a:rect r="r" b="b" t="t" l="l"/>
              <a:pathLst>
                <a:path h="508000" w="1244600">
                  <a:moveTo>
                    <a:pt x="0" y="70104"/>
                  </a:moveTo>
                  <a:cubicBezTo>
                    <a:pt x="0" y="31411"/>
                    <a:pt x="20614" y="0"/>
                    <a:pt x="46006" y="0"/>
                  </a:cubicBezTo>
                  <a:lnTo>
                    <a:pt x="1198594" y="0"/>
                  </a:lnTo>
                  <a:cubicBezTo>
                    <a:pt x="1223986" y="0"/>
                    <a:pt x="1244600" y="31411"/>
                    <a:pt x="1244600" y="70104"/>
                  </a:cubicBezTo>
                  <a:lnTo>
                    <a:pt x="1244600" y="437896"/>
                  </a:lnTo>
                  <a:cubicBezTo>
                    <a:pt x="1244600" y="476589"/>
                    <a:pt x="1223986" y="508000"/>
                    <a:pt x="1198594" y="508000"/>
                  </a:cubicBezTo>
                  <a:lnTo>
                    <a:pt x="46006" y="508000"/>
                  </a:lnTo>
                  <a:cubicBezTo>
                    <a:pt x="20614" y="508000"/>
                    <a:pt x="0" y="476589"/>
                    <a:pt x="0" y="437896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116" r="-128571" b="-84116"/>
              </a:stretch>
            </a:blipFill>
            <a:ln w="19050" cap="sq">
              <a:solidFill>
                <a:srgbClr val="4A4858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5562600" y="2847975"/>
            <a:ext cx="610046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8C8AA0"/>
                </a:solidFill>
                <a:latin typeface="Arial"/>
                <a:ea typeface="Arial"/>
                <a:cs typeface="Arial"/>
                <a:sym typeface="Arial"/>
              </a:rPr>
              <a:t>Fazione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496050" y="2781300"/>
            <a:ext cx="933450" cy="381000"/>
            <a:chOff x="0" y="0"/>
            <a:chExt cx="1244600" cy="508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44600" cy="508000"/>
            </a:xfrm>
            <a:custGeom>
              <a:avLst/>
              <a:gdLst/>
              <a:ahLst/>
              <a:cxnLst/>
              <a:rect r="r" b="b" t="t" l="l"/>
              <a:pathLst>
                <a:path h="508000" w="1244600">
                  <a:moveTo>
                    <a:pt x="0" y="70104"/>
                  </a:moveTo>
                  <a:cubicBezTo>
                    <a:pt x="0" y="31411"/>
                    <a:pt x="20614" y="0"/>
                    <a:pt x="46006" y="0"/>
                  </a:cubicBezTo>
                  <a:lnTo>
                    <a:pt x="1198594" y="0"/>
                  </a:lnTo>
                  <a:cubicBezTo>
                    <a:pt x="1223986" y="0"/>
                    <a:pt x="1244600" y="31411"/>
                    <a:pt x="1244600" y="70104"/>
                  </a:cubicBezTo>
                  <a:lnTo>
                    <a:pt x="1244600" y="437896"/>
                  </a:lnTo>
                  <a:cubicBezTo>
                    <a:pt x="1244600" y="476589"/>
                    <a:pt x="1223986" y="508000"/>
                    <a:pt x="1198594" y="508000"/>
                  </a:cubicBezTo>
                  <a:lnTo>
                    <a:pt x="46006" y="508000"/>
                  </a:lnTo>
                  <a:cubicBezTo>
                    <a:pt x="20614" y="508000"/>
                    <a:pt x="0" y="476589"/>
                    <a:pt x="0" y="437896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116" r="-128571" b="-84116"/>
              </a:stretch>
            </a:blipFill>
            <a:ln w="19050" cap="sq">
              <a:solidFill>
                <a:srgbClr val="4A4858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6610350" y="2847975"/>
            <a:ext cx="457349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8C8AA0"/>
                </a:solidFill>
                <a:latin typeface="Arial"/>
                <a:ea typeface="Arial"/>
                <a:cs typeface="Arial"/>
                <a:sym typeface="Arial"/>
              </a:rPr>
              <a:t>Rarità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7543800" y="2781300"/>
            <a:ext cx="933450" cy="381000"/>
            <a:chOff x="0" y="0"/>
            <a:chExt cx="1244600" cy="508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44600" cy="508000"/>
            </a:xfrm>
            <a:custGeom>
              <a:avLst/>
              <a:gdLst/>
              <a:ahLst/>
              <a:cxnLst/>
              <a:rect r="r" b="b" t="t" l="l"/>
              <a:pathLst>
                <a:path h="508000" w="1244600">
                  <a:moveTo>
                    <a:pt x="0" y="70104"/>
                  </a:moveTo>
                  <a:cubicBezTo>
                    <a:pt x="0" y="31411"/>
                    <a:pt x="20614" y="0"/>
                    <a:pt x="46006" y="0"/>
                  </a:cubicBezTo>
                  <a:lnTo>
                    <a:pt x="1198594" y="0"/>
                  </a:lnTo>
                  <a:cubicBezTo>
                    <a:pt x="1223986" y="0"/>
                    <a:pt x="1244600" y="31411"/>
                    <a:pt x="1244600" y="70104"/>
                  </a:cubicBezTo>
                  <a:lnTo>
                    <a:pt x="1244600" y="437896"/>
                  </a:lnTo>
                  <a:cubicBezTo>
                    <a:pt x="1244600" y="476589"/>
                    <a:pt x="1223986" y="508000"/>
                    <a:pt x="1198594" y="508000"/>
                  </a:cubicBezTo>
                  <a:lnTo>
                    <a:pt x="46006" y="508000"/>
                  </a:lnTo>
                  <a:cubicBezTo>
                    <a:pt x="20614" y="508000"/>
                    <a:pt x="0" y="476589"/>
                    <a:pt x="0" y="437896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116" r="-128571" b="-84116"/>
              </a:stretch>
            </a:blipFill>
            <a:ln w="19050" cap="sq">
              <a:solidFill>
                <a:srgbClr val="4A4858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7658100" y="2847975"/>
            <a:ext cx="647700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20"/>
              </a:lnSpc>
              <a:spcBef>
                <a:spcPct val="0"/>
              </a:spcBef>
            </a:pPr>
            <a:r>
              <a:rPr lang="en-US" sz="1350" strike="noStrike" u="none">
                <a:solidFill>
                  <a:srgbClr val="8C8AA0"/>
                </a:solidFill>
                <a:latin typeface="Arial"/>
                <a:ea typeface="Arial"/>
                <a:cs typeface="Arial"/>
                <a:sym typeface="Arial"/>
              </a:rPr>
              <a:t>ATT/DIF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8591550" y="2781300"/>
            <a:ext cx="933450" cy="381000"/>
            <a:chOff x="0" y="0"/>
            <a:chExt cx="1244600" cy="508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244600" cy="508000"/>
            </a:xfrm>
            <a:custGeom>
              <a:avLst/>
              <a:gdLst/>
              <a:ahLst/>
              <a:cxnLst/>
              <a:rect r="r" b="b" t="t" l="l"/>
              <a:pathLst>
                <a:path h="508000" w="1244600">
                  <a:moveTo>
                    <a:pt x="0" y="70104"/>
                  </a:moveTo>
                  <a:cubicBezTo>
                    <a:pt x="0" y="31411"/>
                    <a:pt x="20614" y="0"/>
                    <a:pt x="46006" y="0"/>
                  </a:cubicBezTo>
                  <a:lnTo>
                    <a:pt x="1198594" y="0"/>
                  </a:lnTo>
                  <a:cubicBezTo>
                    <a:pt x="1223986" y="0"/>
                    <a:pt x="1244600" y="31411"/>
                    <a:pt x="1244600" y="70104"/>
                  </a:cubicBezTo>
                  <a:lnTo>
                    <a:pt x="1244600" y="437896"/>
                  </a:lnTo>
                  <a:cubicBezTo>
                    <a:pt x="1244600" y="476589"/>
                    <a:pt x="1223986" y="508000"/>
                    <a:pt x="1198594" y="508000"/>
                  </a:cubicBezTo>
                  <a:lnTo>
                    <a:pt x="46006" y="508000"/>
                  </a:lnTo>
                  <a:cubicBezTo>
                    <a:pt x="20614" y="508000"/>
                    <a:pt x="0" y="476589"/>
                    <a:pt x="0" y="437896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116" r="-128571" b="-84116"/>
              </a:stretch>
            </a:blipFill>
            <a:ln w="19050" cap="sq">
              <a:solidFill>
                <a:srgbClr val="4A4858"/>
              </a:solidFill>
              <a:prstDash val="solid"/>
              <a:miter/>
            </a:ln>
          </p:spPr>
        </p:sp>
      </p:grpSp>
      <p:sp>
        <p:nvSpPr>
          <p:cNvPr name="TextBox 24" id="24"/>
          <p:cNvSpPr txBox="true"/>
          <p:nvPr/>
        </p:nvSpPr>
        <p:spPr>
          <a:xfrm rot="0">
            <a:off x="8705850" y="2847975"/>
            <a:ext cx="524024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20"/>
              </a:lnSpc>
              <a:spcBef>
                <a:spcPct val="0"/>
              </a:spcBef>
            </a:pPr>
            <a:r>
              <a:rPr lang="en-US" sz="1350" strike="noStrike" u="none">
                <a:solidFill>
                  <a:srgbClr val="8C8AA0"/>
                </a:solidFill>
                <a:latin typeface="Arial"/>
                <a:ea typeface="Arial"/>
                <a:cs typeface="Arial"/>
                <a:sym typeface="Arial"/>
              </a:rPr>
              <a:t>Full art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5486400" y="2209800"/>
            <a:ext cx="4076700" cy="457200"/>
            <a:chOff x="0" y="0"/>
            <a:chExt cx="5435600" cy="6096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435600" cy="609600"/>
            </a:xfrm>
            <a:custGeom>
              <a:avLst/>
              <a:gdLst/>
              <a:ahLst/>
              <a:cxnLst/>
              <a:rect r="r" b="b" t="t" l="l"/>
              <a:pathLst>
                <a:path h="609600" w="5435600">
                  <a:moveTo>
                    <a:pt x="0" y="84125"/>
                  </a:moveTo>
                  <a:cubicBezTo>
                    <a:pt x="0" y="37694"/>
                    <a:pt x="90027" y="0"/>
                    <a:pt x="200923" y="0"/>
                  </a:cubicBezTo>
                  <a:lnTo>
                    <a:pt x="5234677" y="0"/>
                  </a:lnTo>
                  <a:cubicBezTo>
                    <a:pt x="5345573" y="0"/>
                    <a:pt x="5435600" y="37694"/>
                    <a:pt x="5435600" y="84125"/>
                  </a:cubicBezTo>
                  <a:lnTo>
                    <a:pt x="5435600" y="525475"/>
                  </a:lnTo>
                  <a:cubicBezTo>
                    <a:pt x="5435600" y="571906"/>
                    <a:pt x="5345573" y="609600"/>
                    <a:pt x="5234677" y="609600"/>
                  </a:cubicBezTo>
                  <a:lnTo>
                    <a:pt x="200923" y="609600"/>
                  </a:lnTo>
                  <a:cubicBezTo>
                    <a:pt x="90027" y="609600"/>
                    <a:pt x="0" y="571906"/>
                    <a:pt x="0" y="525475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30" r="47663" b="-53430"/>
              </a:stretch>
            </a:blipFill>
            <a:ln w="19050" cap="sq">
              <a:solidFill>
                <a:srgbClr val="4A4858"/>
              </a:solidFill>
              <a:prstDash val="solid"/>
              <a:miter/>
            </a:ln>
          </p:spPr>
        </p:sp>
      </p:grpSp>
      <p:sp>
        <p:nvSpPr>
          <p:cNvPr name="TextBox 27" id="27"/>
          <p:cNvSpPr txBox="true"/>
          <p:nvPr/>
        </p:nvSpPr>
        <p:spPr>
          <a:xfrm rot="0">
            <a:off x="5619750" y="2286000"/>
            <a:ext cx="149096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8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8C8AA0"/>
                </a:solidFill>
                <a:latin typeface="Arial"/>
                <a:ea typeface="Arial"/>
                <a:cs typeface="Arial"/>
                <a:sym typeface="Arial"/>
              </a:rPr>
              <a:t>Cerca una carta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5505450" y="3352800"/>
            <a:ext cx="1924050" cy="2781300"/>
            <a:chOff x="0" y="0"/>
            <a:chExt cx="2565400" cy="37084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565400" cy="3708400"/>
            </a:xfrm>
            <a:custGeom>
              <a:avLst/>
              <a:gdLst/>
              <a:ahLst/>
              <a:cxnLst/>
              <a:rect r="r" b="b" t="t" l="l"/>
              <a:pathLst>
                <a:path h="3708400" w="2565400">
                  <a:moveTo>
                    <a:pt x="0" y="128270"/>
                  </a:moveTo>
                  <a:cubicBezTo>
                    <a:pt x="0" y="57404"/>
                    <a:pt x="57404" y="0"/>
                    <a:pt x="128270" y="0"/>
                  </a:cubicBezTo>
                  <a:lnTo>
                    <a:pt x="2437130" y="0"/>
                  </a:lnTo>
                  <a:cubicBezTo>
                    <a:pt x="2507996" y="0"/>
                    <a:pt x="2565400" y="57404"/>
                    <a:pt x="2565400" y="128270"/>
                  </a:cubicBezTo>
                  <a:lnTo>
                    <a:pt x="2565400" y="3580130"/>
                  </a:lnTo>
                  <a:cubicBezTo>
                    <a:pt x="2565400" y="3650996"/>
                    <a:pt x="2507996" y="3708400"/>
                    <a:pt x="2437130" y="3708400"/>
                  </a:cubicBezTo>
                  <a:lnTo>
                    <a:pt x="128270" y="3708400"/>
                  </a:lnTo>
                  <a:cubicBezTo>
                    <a:pt x="57404" y="3708400"/>
                    <a:pt x="0" y="3650996"/>
                    <a:pt x="0" y="3580130"/>
                  </a:cubicBezTo>
                  <a:close/>
                </a:path>
              </a:pathLst>
            </a:custGeom>
            <a:solidFill>
              <a:srgbClr val="1B1A22"/>
            </a:solidFill>
            <a:ln w="19050" cap="sq">
              <a:solidFill>
                <a:srgbClr val="96C5E1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5667375" y="3533775"/>
            <a:ext cx="1600200" cy="266700"/>
            <a:chOff x="0" y="0"/>
            <a:chExt cx="2133600" cy="3556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133600" cy="355600"/>
            </a:xfrm>
            <a:custGeom>
              <a:avLst/>
              <a:gdLst/>
              <a:ahLst/>
              <a:cxnLst/>
              <a:rect r="r" b="b" t="t" l="l"/>
              <a:pathLst>
                <a:path h="355600" w="21336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lnTo>
                    <a:pt x="2057400" y="0"/>
                  </a:lnTo>
                  <a:cubicBezTo>
                    <a:pt x="2099437" y="0"/>
                    <a:pt x="2133600" y="34163"/>
                    <a:pt x="2133600" y="76200"/>
                  </a:cubicBezTo>
                  <a:lnTo>
                    <a:pt x="2133600" y="279400"/>
                  </a:lnTo>
                  <a:cubicBezTo>
                    <a:pt x="2133600" y="321437"/>
                    <a:pt x="2099437" y="355600"/>
                    <a:pt x="2057400" y="355600"/>
                  </a:cubicBezTo>
                  <a:lnTo>
                    <a:pt x="76200" y="355600"/>
                  </a:lnTo>
                  <a:cubicBezTo>
                    <a:pt x="34163" y="355600"/>
                    <a:pt x="0" y="321437"/>
                    <a:pt x="0" y="279400"/>
                  </a:cubicBezTo>
                  <a:close/>
                </a:path>
              </a:pathLst>
            </a:custGeom>
            <a:solidFill>
              <a:srgbClr val="2A2933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5667375" y="3914775"/>
            <a:ext cx="1600200" cy="1143000"/>
            <a:chOff x="0" y="0"/>
            <a:chExt cx="2133600" cy="15240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1336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2133600">
                  <a:moveTo>
                    <a:pt x="0" y="0"/>
                  </a:moveTo>
                  <a:lnTo>
                    <a:pt x="2133600" y="0"/>
                  </a:lnTo>
                  <a:lnTo>
                    <a:pt x="2133600" y="1524000"/>
                  </a:lnTo>
                  <a:lnTo>
                    <a:pt x="0" y="1524000"/>
                  </a:lnTo>
                  <a:close/>
                </a:path>
              </a:pathLst>
            </a:custGeom>
            <a:solidFill>
              <a:srgbClr val="24232C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5667375" y="5172075"/>
            <a:ext cx="1600200" cy="476250"/>
            <a:chOff x="0" y="0"/>
            <a:chExt cx="2133600" cy="635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133600" cy="635000"/>
            </a:xfrm>
            <a:custGeom>
              <a:avLst/>
              <a:gdLst/>
              <a:ahLst/>
              <a:cxnLst/>
              <a:rect r="r" b="b" t="t" l="l"/>
              <a:pathLst>
                <a:path h="635000" w="21336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lnTo>
                    <a:pt x="2057400" y="0"/>
                  </a:lnTo>
                  <a:cubicBezTo>
                    <a:pt x="2099437" y="0"/>
                    <a:pt x="2133600" y="34163"/>
                    <a:pt x="2133600" y="76200"/>
                  </a:cubicBezTo>
                  <a:lnTo>
                    <a:pt x="2133600" y="558800"/>
                  </a:lnTo>
                  <a:cubicBezTo>
                    <a:pt x="2133600" y="600837"/>
                    <a:pt x="2099437" y="635000"/>
                    <a:pt x="2057400" y="635000"/>
                  </a:cubicBezTo>
                  <a:lnTo>
                    <a:pt x="76200" y="635000"/>
                  </a:lnTo>
                  <a:cubicBezTo>
                    <a:pt x="34163" y="635000"/>
                    <a:pt x="0" y="600837"/>
                    <a:pt x="0" y="558800"/>
                  </a:cubicBezTo>
                  <a:close/>
                </a:path>
              </a:pathLst>
            </a:custGeom>
            <a:solidFill>
              <a:srgbClr val="2A2933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5667375" y="5743575"/>
            <a:ext cx="426682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8C8AA0"/>
                </a:solidFill>
                <a:latin typeface="Arial"/>
                <a:ea typeface="Arial"/>
                <a:cs typeface="Arial"/>
                <a:sym typeface="Arial"/>
              </a:rPr>
              <a:t>ATT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6943725" y="5743575"/>
            <a:ext cx="379047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8C8AA0"/>
                </a:solidFill>
                <a:latin typeface="Arial"/>
                <a:ea typeface="Arial"/>
                <a:cs typeface="Arial"/>
                <a:sym typeface="Arial"/>
              </a:rPr>
              <a:t>DIF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7620000" y="3352800"/>
            <a:ext cx="1924050" cy="2781300"/>
            <a:chOff x="0" y="0"/>
            <a:chExt cx="2565400" cy="37084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565400" cy="3708400"/>
            </a:xfrm>
            <a:custGeom>
              <a:avLst/>
              <a:gdLst/>
              <a:ahLst/>
              <a:cxnLst/>
              <a:rect r="r" b="b" t="t" l="l"/>
              <a:pathLst>
                <a:path h="3708400" w="2565400">
                  <a:moveTo>
                    <a:pt x="0" y="128270"/>
                  </a:moveTo>
                  <a:cubicBezTo>
                    <a:pt x="0" y="57404"/>
                    <a:pt x="57404" y="0"/>
                    <a:pt x="128270" y="0"/>
                  </a:cubicBezTo>
                  <a:lnTo>
                    <a:pt x="2437130" y="0"/>
                  </a:lnTo>
                  <a:cubicBezTo>
                    <a:pt x="2507996" y="0"/>
                    <a:pt x="2565400" y="57404"/>
                    <a:pt x="2565400" y="128270"/>
                  </a:cubicBezTo>
                  <a:lnTo>
                    <a:pt x="2565400" y="3580130"/>
                  </a:lnTo>
                  <a:cubicBezTo>
                    <a:pt x="2565400" y="3650996"/>
                    <a:pt x="2507996" y="3708400"/>
                    <a:pt x="2437130" y="3708400"/>
                  </a:cubicBezTo>
                  <a:lnTo>
                    <a:pt x="128270" y="3708400"/>
                  </a:lnTo>
                  <a:cubicBezTo>
                    <a:pt x="57404" y="3708400"/>
                    <a:pt x="0" y="3650996"/>
                    <a:pt x="0" y="3580130"/>
                  </a:cubicBezTo>
                  <a:close/>
                </a:path>
              </a:pathLst>
            </a:custGeom>
            <a:solidFill>
              <a:srgbClr val="1B1A22"/>
            </a:solidFill>
            <a:ln w="19050" cap="sq">
              <a:solidFill>
                <a:srgbClr val="FF738E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7781925" y="3533775"/>
            <a:ext cx="1600200" cy="266700"/>
            <a:chOff x="0" y="0"/>
            <a:chExt cx="2133600" cy="3556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133600" cy="355600"/>
            </a:xfrm>
            <a:custGeom>
              <a:avLst/>
              <a:gdLst/>
              <a:ahLst/>
              <a:cxnLst/>
              <a:rect r="r" b="b" t="t" l="l"/>
              <a:pathLst>
                <a:path h="355600" w="21336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lnTo>
                    <a:pt x="2057400" y="0"/>
                  </a:lnTo>
                  <a:cubicBezTo>
                    <a:pt x="2099437" y="0"/>
                    <a:pt x="2133600" y="34163"/>
                    <a:pt x="2133600" y="76200"/>
                  </a:cubicBezTo>
                  <a:lnTo>
                    <a:pt x="2133600" y="279400"/>
                  </a:lnTo>
                  <a:cubicBezTo>
                    <a:pt x="2133600" y="321437"/>
                    <a:pt x="2099437" y="355600"/>
                    <a:pt x="2057400" y="355600"/>
                  </a:cubicBezTo>
                  <a:lnTo>
                    <a:pt x="76200" y="355600"/>
                  </a:lnTo>
                  <a:cubicBezTo>
                    <a:pt x="34163" y="355600"/>
                    <a:pt x="0" y="321437"/>
                    <a:pt x="0" y="279400"/>
                  </a:cubicBezTo>
                  <a:close/>
                </a:path>
              </a:pathLst>
            </a:custGeom>
            <a:solidFill>
              <a:srgbClr val="2A2933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7781925" y="3914775"/>
            <a:ext cx="1600200" cy="1143000"/>
            <a:chOff x="0" y="0"/>
            <a:chExt cx="2133600" cy="15240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1336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2133600">
                  <a:moveTo>
                    <a:pt x="0" y="0"/>
                  </a:moveTo>
                  <a:lnTo>
                    <a:pt x="2133600" y="0"/>
                  </a:lnTo>
                  <a:lnTo>
                    <a:pt x="2133600" y="1524000"/>
                  </a:lnTo>
                  <a:lnTo>
                    <a:pt x="0" y="1524000"/>
                  </a:lnTo>
                  <a:close/>
                </a:path>
              </a:pathLst>
            </a:custGeom>
            <a:solidFill>
              <a:srgbClr val="24232C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7781925" y="5172075"/>
            <a:ext cx="1600200" cy="476250"/>
            <a:chOff x="0" y="0"/>
            <a:chExt cx="2133600" cy="6350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133600" cy="635000"/>
            </a:xfrm>
            <a:custGeom>
              <a:avLst/>
              <a:gdLst/>
              <a:ahLst/>
              <a:cxnLst/>
              <a:rect r="r" b="b" t="t" l="l"/>
              <a:pathLst>
                <a:path h="635000" w="21336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lnTo>
                    <a:pt x="2057400" y="0"/>
                  </a:lnTo>
                  <a:cubicBezTo>
                    <a:pt x="2099437" y="0"/>
                    <a:pt x="2133600" y="34163"/>
                    <a:pt x="2133600" y="76200"/>
                  </a:cubicBezTo>
                  <a:lnTo>
                    <a:pt x="2133600" y="558800"/>
                  </a:lnTo>
                  <a:cubicBezTo>
                    <a:pt x="2133600" y="600837"/>
                    <a:pt x="2099437" y="635000"/>
                    <a:pt x="2057400" y="635000"/>
                  </a:cubicBezTo>
                  <a:lnTo>
                    <a:pt x="76200" y="635000"/>
                  </a:lnTo>
                  <a:cubicBezTo>
                    <a:pt x="34163" y="635000"/>
                    <a:pt x="0" y="600837"/>
                    <a:pt x="0" y="558800"/>
                  </a:cubicBezTo>
                  <a:close/>
                </a:path>
              </a:pathLst>
            </a:custGeom>
            <a:solidFill>
              <a:srgbClr val="2A2933"/>
            </a:solidFill>
          </p:spPr>
        </p:sp>
      </p:grpSp>
      <p:sp>
        <p:nvSpPr>
          <p:cNvPr name="TextBox 46" id="46"/>
          <p:cNvSpPr txBox="true"/>
          <p:nvPr/>
        </p:nvSpPr>
        <p:spPr>
          <a:xfrm rot="0">
            <a:off x="7781925" y="5743575"/>
            <a:ext cx="426682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8C8AA0"/>
                </a:solidFill>
                <a:latin typeface="Arial"/>
                <a:ea typeface="Arial"/>
                <a:cs typeface="Arial"/>
                <a:sym typeface="Arial"/>
              </a:rPr>
              <a:t>ATT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9058275" y="5743575"/>
            <a:ext cx="379047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8C8AA0"/>
                </a:solidFill>
                <a:latin typeface="Arial"/>
                <a:ea typeface="Arial"/>
                <a:cs typeface="Arial"/>
                <a:sym typeface="Arial"/>
              </a:rPr>
              <a:t>DIF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9153525" y="3552825"/>
            <a:ext cx="326193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E9E7F2"/>
                </a:solidFill>
                <a:latin typeface="Arial Bold"/>
                <a:ea typeface="Arial Bold"/>
                <a:cs typeface="Arial Bold"/>
                <a:sym typeface="Arial Bold"/>
              </a:rPr>
              <a:t>x2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5505450" y="6324600"/>
            <a:ext cx="1924050" cy="2781300"/>
            <a:chOff x="0" y="0"/>
            <a:chExt cx="2565400" cy="37084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565400" cy="3708400"/>
            </a:xfrm>
            <a:custGeom>
              <a:avLst/>
              <a:gdLst/>
              <a:ahLst/>
              <a:cxnLst/>
              <a:rect r="r" b="b" t="t" l="l"/>
              <a:pathLst>
                <a:path h="3708400" w="2565400">
                  <a:moveTo>
                    <a:pt x="0" y="128270"/>
                  </a:moveTo>
                  <a:cubicBezTo>
                    <a:pt x="0" y="57404"/>
                    <a:pt x="57404" y="0"/>
                    <a:pt x="128270" y="0"/>
                  </a:cubicBezTo>
                  <a:lnTo>
                    <a:pt x="2437130" y="0"/>
                  </a:lnTo>
                  <a:cubicBezTo>
                    <a:pt x="2507996" y="0"/>
                    <a:pt x="2565400" y="57404"/>
                    <a:pt x="2565400" y="128270"/>
                  </a:cubicBezTo>
                  <a:lnTo>
                    <a:pt x="2565400" y="3580130"/>
                  </a:lnTo>
                  <a:cubicBezTo>
                    <a:pt x="2565400" y="3650996"/>
                    <a:pt x="2507996" y="3708400"/>
                    <a:pt x="2437130" y="3708400"/>
                  </a:cubicBezTo>
                  <a:lnTo>
                    <a:pt x="128270" y="3708400"/>
                  </a:lnTo>
                  <a:cubicBezTo>
                    <a:pt x="57404" y="3708400"/>
                    <a:pt x="0" y="3650996"/>
                    <a:pt x="0" y="3580130"/>
                  </a:cubicBezTo>
                  <a:close/>
                </a:path>
              </a:pathLst>
            </a:custGeom>
            <a:solidFill>
              <a:srgbClr val="1B1A22"/>
            </a:solidFill>
            <a:ln w="19050" cap="sq">
              <a:solidFill>
                <a:srgbClr val="E6AD6B"/>
              </a:solidFill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5667375" y="6505575"/>
            <a:ext cx="1600200" cy="266700"/>
            <a:chOff x="0" y="0"/>
            <a:chExt cx="2133600" cy="3556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133600" cy="355600"/>
            </a:xfrm>
            <a:custGeom>
              <a:avLst/>
              <a:gdLst/>
              <a:ahLst/>
              <a:cxnLst/>
              <a:rect r="r" b="b" t="t" l="l"/>
              <a:pathLst>
                <a:path h="355600" w="21336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lnTo>
                    <a:pt x="2057400" y="0"/>
                  </a:lnTo>
                  <a:cubicBezTo>
                    <a:pt x="2099437" y="0"/>
                    <a:pt x="2133600" y="34163"/>
                    <a:pt x="2133600" y="76200"/>
                  </a:cubicBezTo>
                  <a:lnTo>
                    <a:pt x="2133600" y="279400"/>
                  </a:lnTo>
                  <a:cubicBezTo>
                    <a:pt x="2133600" y="321437"/>
                    <a:pt x="2099437" y="355600"/>
                    <a:pt x="2057400" y="355600"/>
                  </a:cubicBezTo>
                  <a:lnTo>
                    <a:pt x="76200" y="355600"/>
                  </a:lnTo>
                  <a:cubicBezTo>
                    <a:pt x="34163" y="355600"/>
                    <a:pt x="0" y="321437"/>
                    <a:pt x="0" y="279400"/>
                  </a:cubicBezTo>
                  <a:close/>
                </a:path>
              </a:pathLst>
            </a:custGeom>
            <a:solidFill>
              <a:srgbClr val="2A2933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5667375" y="6886575"/>
            <a:ext cx="1600200" cy="1143000"/>
            <a:chOff x="0" y="0"/>
            <a:chExt cx="2133600" cy="15240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1336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2133600">
                  <a:moveTo>
                    <a:pt x="0" y="0"/>
                  </a:moveTo>
                  <a:lnTo>
                    <a:pt x="2133600" y="0"/>
                  </a:lnTo>
                  <a:lnTo>
                    <a:pt x="2133600" y="1524000"/>
                  </a:lnTo>
                  <a:lnTo>
                    <a:pt x="0" y="1524000"/>
                  </a:lnTo>
                  <a:close/>
                </a:path>
              </a:pathLst>
            </a:custGeom>
            <a:solidFill>
              <a:srgbClr val="24232C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5667375" y="8143875"/>
            <a:ext cx="1600200" cy="476250"/>
            <a:chOff x="0" y="0"/>
            <a:chExt cx="2133600" cy="6350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133600" cy="635000"/>
            </a:xfrm>
            <a:custGeom>
              <a:avLst/>
              <a:gdLst/>
              <a:ahLst/>
              <a:cxnLst/>
              <a:rect r="r" b="b" t="t" l="l"/>
              <a:pathLst>
                <a:path h="635000" w="21336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lnTo>
                    <a:pt x="2057400" y="0"/>
                  </a:lnTo>
                  <a:cubicBezTo>
                    <a:pt x="2099437" y="0"/>
                    <a:pt x="2133600" y="34163"/>
                    <a:pt x="2133600" y="76200"/>
                  </a:cubicBezTo>
                  <a:lnTo>
                    <a:pt x="2133600" y="558800"/>
                  </a:lnTo>
                  <a:cubicBezTo>
                    <a:pt x="2133600" y="600837"/>
                    <a:pt x="2099437" y="635000"/>
                    <a:pt x="2057400" y="635000"/>
                  </a:cubicBezTo>
                  <a:lnTo>
                    <a:pt x="76200" y="635000"/>
                  </a:lnTo>
                  <a:cubicBezTo>
                    <a:pt x="34163" y="635000"/>
                    <a:pt x="0" y="600837"/>
                    <a:pt x="0" y="558800"/>
                  </a:cubicBezTo>
                  <a:close/>
                </a:path>
              </a:pathLst>
            </a:custGeom>
            <a:solidFill>
              <a:srgbClr val="2A2933"/>
            </a:solidFill>
          </p:spPr>
        </p:sp>
      </p:grpSp>
      <p:sp>
        <p:nvSpPr>
          <p:cNvPr name="TextBox 57" id="57"/>
          <p:cNvSpPr txBox="true"/>
          <p:nvPr/>
        </p:nvSpPr>
        <p:spPr>
          <a:xfrm rot="0">
            <a:off x="5667375" y="8715375"/>
            <a:ext cx="426682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8C8AA0"/>
                </a:solidFill>
                <a:latin typeface="Arial"/>
                <a:ea typeface="Arial"/>
                <a:cs typeface="Arial"/>
                <a:sym typeface="Arial"/>
              </a:rPr>
              <a:t>ATT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6943725" y="8715375"/>
            <a:ext cx="379047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8C8AA0"/>
                </a:solidFill>
                <a:latin typeface="Arial"/>
                <a:ea typeface="Arial"/>
                <a:cs typeface="Arial"/>
                <a:sym typeface="Arial"/>
              </a:rPr>
              <a:t>DIF</a:t>
            </a:r>
          </a:p>
        </p:txBody>
      </p:sp>
      <p:grpSp>
        <p:nvGrpSpPr>
          <p:cNvPr name="Group 59" id="59"/>
          <p:cNvGrpSpPr/>
          <p:nvPr/>
        </p:nvGrpSpPr>
        <p:grpSpPr>
          <a:xfrm rot="0">
            <a:off x="7620000" y="6324600"/>
            <a:ext cx="1924050" cy="2781300"/>
            <a:chOff x="0" y="0"/>
            <a:chExt cx="2565400" cy="37084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565400" cy="3708400"/>
            </a:xfrm>
            <a:custGeom>
              <a:avLst/>
              <a:gdLst/>
              <a:ahLst/>
              <a:cxnLst/>
              <a:rect r="r" b="b" t="t" l="l"/>
              <a:pathLst>
                <a:path h="3708400" w="2565400">
                  <a:moveTo>
                    <a:pt x="0" y="128270"/>
                  </a:moveTo>
                  <a:cubicBezTo>
                    <a:pt x="0" y="57404"/>
                    <a:pt x="57404" y="0"/>
                    <a:pt x="128270" y="0"/>
                  </a:cubicBezTo>
                  <a:lnTo>
                    <a:pt x="2437130" y="0"/>
                  </a:lnTo>
                  <a:cubicBezTo>
                    <a:pt x="2507996" y="0"/>
                    <a:pt x="2565400" y="57404"/>
                    <a:pt x="2565400" y="128270"/>
                  </a:cubicBezTo>
                  <a:lnTo>
                    <a:pt x="2565400" y="3580130"/>
                  </a:lnTo>
                  <a:cubicBezTo>
                    <a:pt x="2565400" y="3650996"/>
                    <a:pt x="2507996" y="3708400"/>
                    <a:pt x="2437130" y="3708400"/>
                  </a:cubicBezTo>
                  <a:lnTo>
                    <a:pt x="128270" y="3708400"/>
                  </a:lnTo>
                  <a:cubicBezTo>
                    <a:pt x="57404" y="3708400"/>
                    <a:pt x="0" y="3650996"/>
                    <a:pt x="0" y="3580130"/>
                  </a:cubicBezTo>
                  <a:close/>
                </a:path>
              </a:pathLst>
            </a:custGeom>
            <a:solidFill>
              <a:srgbClr val="1B1A22"/>
            </a:solidFill>
            <a:ln w="19050" cap="sq">
              <a:solidFill>
                <a:srgbClr val="FF738E"/>
              </a:solidFill>
              <a:prstDash val="solid"/>
              <a:miter/>
            </a:ln>
          </p:spPr>
        </p:sp>
      </p:grpSp>
      <p:grpSp>
        <p:nvGrpSpPr>
          <p:cNvPr name="Group 61" id="61"/>
          <p:cNvGrpSpPr/>
          <p:nvPr/>
        </p:nvGrpSpPr>
        <p:grpSpPr>
          <a:xfrm rot="0">
            <a:off x="7781925" y="6505575"/>
            <a:ext cx="1600200" cy="266700"/>
            <a:chOff x="0" y="0"/>
            <a:chExt cx="2133600" cy="3556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133600" cy="355600"/>
            </a:xfrm>
            <a:custGeom>
              <a:avLst/>
              <a:gdLst/>
              <a:ahLst/>
              <a:cxnLst/>
              <a:rect r="r" b="b" t="t" l="l"/>
              <a:pathLst>
                <a:path h="355600" w="21336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lnTo>
                    <a:pt x="2057400" y="0"/>
                  </a:lnTo>
                  <a:cubicBezTo>
                    <a:pt x="2099437" y="0"/>
                    <a:pt x="2133600" y="34163"/>
                    <a:pt x="2133600" y="76200"/>
                  </a:cubicBezTo>
                  <a:lnTo>
                    <a:pt x="2133600" y="279400"/>
                  </a:lnTo>
                  <a:cubicBezTo>
                    <a:pt x="2133600" y="321437"/>
                    <a:pt x="2099437" y="355600"/>
                    <a:pt x="2057400" y="355600"/>
                  </a:cubicBezTo>
                  <a:lnTo>
                    <a:pt x="76200" y="355600"/>
                  </a:lnTo>
                  <a:cubicBezTo>
                    <a:pt x="34163" y="355600"/>
                    <a:pt x="0" y="321437"/>
                    <a:pt x="0" y="279400"/>
                  </a:cubicBezTo>
                  <a:close/>
                </a:path>
              </a:pathLst>
            </a:custGeom>
            <a:solidFill>
              <a:srgbClr val="2A2933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7781925" y="6886575"/>
            <a:ext cx="1600200" cy="1143000"/>
            <a:chOff x="0" y="0"/>
            <a:chExt cx="2133600" cy="152400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1336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2133600">
                  <a:moveTo>
                    <a:pt x="0" y="0"/>
                  </a:moveTo>
                  <a:lnTo>
                    <a:pt x="2133600" y="0"/>
                  </a:lnTo>
                  <a:lnTo>
                    <a:pt x="2133600" y="1524000"/>
                  </a:lnTo>
                  <a:lnTo>
                    <a:pt x="0" y="1524000"/>
                  </a:lnTo>
                  <a:close/>
                </a:path>
              </a:pathLst>
            </a:custGeom>
            <a:solidFill>
              <a:srgbClr val="24232C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7781925" y="8143875"/>
            <a:ext cx="1600200" cy="476250"/>
            <a:chOff x="0" y="0"/>
            <a:chExt cx="2133600" cy="6350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133600" cy="635000"/>
            </a:xfrm>
            <a:custGeom>
              <a:avLst/>
              <a:gdLst/>
              <a:ahLst/>
              <a:cxnLst/>
              <a:rect r="r" b="b" t="t" l="l"/>
              <a:pathLst>
                <a:path h="635000" w="21336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lnTo>
                    <a:pt x="2057400" y="0"/>
                  </a:lnTo>
                  <a:cubicBezTo>
                    <a:pt x="2099437" y="0"/>
                    <a:pt x="2133600" y="34163"/>
                    <a:pt x="2133600" y="76200"/>
                  </a:cubicBezTo>
                  <a:lnTo>
                    <a:pt x="2133600" y="558800"/>
                  </a:lnTo>
                  <a:cubicBezTo>
                    <a:pt x="2133600" y="600837"/>
                    <a:pt x="2099437" y="635000"/>
                    <a:pt x="2057400" y="635000"/>
                  </a:cubicBezTo>
                  <a:lnTo>
                    <a:pt x="76200" y="635000"/>
                  </a:lnTo>
                  <a:cubicBezTo>
                    <a:pt x="34163" y="635000"/>
                    <a:pt x="0" y="600837"/>
                    <a:pt x="0" y="558800"/>
                  </a:cubicBezTo>
                  <a:close/>
                </a:path>
              </a:pathLst>
            </a:custGeom>
            <a:solidFill>
              <a:srgbClr val="2A2933"/>
            </a:solidFill>
          </p:spPr>
        </p:sp>
      </p:grpSp>
      <p:sp>
        <p:nvSpPr>
          <p:cNvPr name="TextBox 67" id="67"/>
          <p:cNvSpPr txBox="true"/>
          <p:nvPr/>
        </p:nvSpPr>
        <p:spPr>
          <a:xfrm rot="0">
            <a:off x="7781925" y="8715375"/>
            <a:ext cx="426682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8C8AA0"/>
                </a:solidFill>
                <a:latin typeface="Arial"/>
                <a:ea typeface="Arial"/>
                <a:cs typeface="Arial"/>
                <a:sym typeface="Arial"/>
              </a:rPr>
              <a:t>ATT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9058275" y="8715375"/>
            <a:ext cx="379047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8C8AA0"/>
                </a:solidFill>
                <a:latin typeface="Arial"/>
                <a:ea typeface="Arial"/>
                <a:cs typeface="Arial"/>
                <a:sym typeface="Arial"/>
              </a:rPr>
              <a:t>DIF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9153525" y="6524625"/>
            <a:ext cx="326193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E9E7F2"/>
                </a:solidFill>
                <a:latin typeface="Arial Bold"/>
                <a:ea typeface="Arial Bold"/>
                <a:cs typeface="Arial Bold"/>
                <a:sym typeface="Arial Bold"/>
              </a:rPr>
              <a:t>x2</a:t>
            </a:r>
          </a:p>
        </p:txBody>
      </p:sp>
      <p:grpSp>
        <p:nvGrpSpPr>
          <p:cNvPr name="Group 70" id="70"/>
          <p:cNvGrpSpPr/>
          <p:nvPr/>
        </p:nvGrpSpPr>
        <p:grpSpPr>
          <a:xfrm rot="0">
            <a:off x="4857750" y="2762250"/>
            <a:ext cx="419100" cy="419100"/>
            <a:chOff x="0" y="0"/>
            <a:chExt cx="558800" cy="55880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558800" cy="558800"/>
            </a:xfrm>
            <a:custGeom>
              <a:avLst/>
              <a:gdLst/>
              <a:ahLst/>
              <a:cxnLst/>
              <a:rect r="r" b="b" t="t" l="l"/>
              <a:pathLst>
                <a:path h="558800" w="558800">
                  <a:moveTo>
                    <a:pt x="0" y="279400"/>
                  </a:moveTo>
                  <a:cubicBezTo>
                    <a:pt x="0" y="125095"/>
                    <a:pt x="125095" y="0"/>
                    <a:pt x="279400" y="0"/>
                  </a:cubicBezTo>
                  <a:cubicBezTo>
                    <a:pt x="433705" y="0"/>
                    <a:pt x="558800" y="125095"/>
                    <a:pt x="558800" y="279400"/>
                  </a:cubicBezTo>
                  <a:cubicBezTo>
                    <a:pt x="558800" y="433705"/>
                    <a:pt x="433705" y="558800"/>
                    <a:pt x="279400" y="558800"/>
                  </a:cubicBezTo>
                  <a:cubicBezTo>
                    <a:pt x="125095" y="558800"/>
                    <a:pt x="0" y="433705"/>
                    <a:pt x="0" y="279400"/>
                  </a:cubicBezTo>
                  <a:close/>
                </a:path>
              </a:pathLst>
            </a:custGeom>
            <a:solidFill>
              <a:srgbClr val="B2A0DE"/>
            </a:solidFill>
          </p:spPr>
        </p:sp>
      </p:grpSp>
      <p:sp>
        <p:nvSpPr>
          <p:cNvPr name="TextBox 72" id="72"/>
          <p:cNvSpPr txBox="true"/>
          <p:nvPr/>
        </p:nvSpPr>
        <p:spPr>
          <a:xfrm rot="0">
            <a:off x="4933950" y="2828925"/>
            <a:ext cx="264300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1</a:t>
            </a:r>
          </a:p>
        </p:txBody>
      </p:sp>
      <p:grpSp>
        <p:nvGrpSpPr>
          <p:cNvPr name="Group 73" id="73"/>
          <p:cNvGrpSpPr/>
          <p:nvPr/>
        </p:nvGrpSpPr>
        <p:grpSpPr>
          <a:xfrm rot="0">
            <a:off x="9791700" y="7467600"/>
            <a:ext cx="419100" cy="419100"/>
            <a:chOff x="0" y="0"/>
            <a:chExt cx="558800" cy="55880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558800" cy="558800"/>
            </a:xfrm>
            <a:custGeom>
              <a:avLst/>
              <a:gdLst/>
              <a:ahLst/>
              <a:cxnLst/>
              <a:rect r="r" b="b" t="t" l="l"/>
              <a:pathLst>
                <a:path h="558800" w="558800">
                  <a:moveTo>
                    <a:pt x="0" y="279400"/>
                  </a:moveTo>
                  <a:cubicBezTo>
                    <a:pt x="0" y="125095"/>
                    <a:pt x="125095" y="0"/>
                    <a:pt x="279400" y="0"/>
                  </a:cubicBezTo>
                  <a:cubicBezTo>
                    <a:pt x="433705" y="0"/>
                    <a:pt x="558800" y="125095"/>
                    <a:pt x="558800" y="279400"/>
                  </a:cubicBezTo>
                  <a:cubicBezTo>
                    <a:pt x="558800" y="433705"/>
                    <a:pt x="433705" y="558800"/>
                    <a:pt x="279400" y="558800"/>
                  </a:cubicBezTo>
                  <a:cubicBezTo>
                    <a:pt x="125095" y="558800"/>
                    <a:pt x="0" y="433705"/>
                    <a:pt x="0" y="279400"/>
                  </a:cubicBezTo>
                  <a:close/>
                </a:path>
              </a:pathLst>
            </a:custGeom>
            <a:solidFill>
              <a:srgbClr val="B2A0DE"/>
            </a:solidFill>
          </p:spPr>
        </p:sp>
      </p:grpSp>
      <p:sp>
        <p:nvSpPr>
          <p:cNvPr name="TextBox 75" id="75"/>
          <p:cNvSpPr txBox="true"/>
          <p:nvPr/>
        </p:nvSpPr>
        <p:spPr>
          <a:xfrm rot="0">
            <a:off x="9867900" y="7534275"/>
            <a:ext cx="264300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2</a:t>
            </a:r>
          </a:p>
        </p:txBody>
      </p:sp>
      <p:grpSp>
        <p:nvGrpSpPr>
          <p:cNvPr name="Group 76" id="76"/>
          <p:cNvGrpSpPr/>
          <p:nvPr/>
        </p:nvGrpSpPr>
        <p:grpSpPr>
          <a:xfrm rot="0">
            <a:off x="8763000" y="3143250"/>
            <a:ext cx="419100" cy="419100"/>
            <a:chOff x="0" y="0"/>
            <a:chExt cx="558800" cy="55880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558800" cy="558800"/>
            </a:xfrm>
            <a:custGeom>
              <a:avLst/>
              <a:gdLst/>
              <a:ahLst/>
              <a:cxnLst/>
              <a:rect r="r" b="b" t="t" l="l"/>
              <a:pathLst>
                <a:path h="558800" w="558800">
                  <a:moveTo>
                    <a:pt x="0" y="279400"/>
                  </a:moveTo>
                  <a:cubicBezTo>
                    <a:pt x="0" y="125095"/>
                    <a:pt x="125095" y="0"/>
                    <a:pt x="279400" y="0"/>
                  </a:cubicBezTo>
                  <a:cubicBezTo>
                    <a:pt x="433705" y="0"/>
                    <a:pt x="558800" y="125095"/>
                    <a:pt x="558800" y="279400"/>
                  </a:cubicBezTo>
                  <a:cubicBezTo>
                    <a:pt x="558800" y="433705"/>
                    <a:pt x="433705" y="558800"/>
                    <a:pt x="279400" y="558800"/>
                  </a:cubicBezTo>
                  <a:cubicBezTo>
                    <a:pt x="125095" y="558800"/>
                    <a:pt x="0" y="433705"/>
                    <a:pt x="0" y="279400"/>
                  </a:cubicBezTo>
                  <a:close/>
                </a:path>
              </a:pathLst>
            </a:custGeom>
            <a:solidFill>
              <a:srgbClr val="B2A0DE"/>
            </a:solidFill>
          </p:spPr>
        </p:sp>
      </p:grpSp>
      <p:sp>
        <p:nvSpPr>
          <p:cNvPr name="TextBox 78" id="78"/>
          <p:cNvSpPr txBox="true"/>
          <p:nvPr/>
        </p:nvSpPr>
        <p:spPr>
          <a:xfrm rot="0">
            <a:off x="8839200" y="3209925"/>
            <a:ext cx="264300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3</a:t>
            </a:r>
          </a:p>
        </p:txBody>
      </p:sp>
      <p:grpSp>
        <p:nvGrpSpPr>
          <p:cNvPr name="Group 79" id="79"/>
          <p:cNvGrpSpPr/>
          <p:nvPr/>
        </p:nvGrpSpPr>
        <p:grpSpPr>
          <a:xfrm rot="0">
            <a:off x="4857750" y="9410700"/>
            <a:ext cx="419100" cy="419100"/>
            <a:chOff x="0" y="0"/>
            <a:chExt cx="558800" cy="55880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558800" cy="558800"/>
            </a:xfrm>
            <a:custGeom>
              <a:avLst/>
              <a:gdLst/>
              <a:ahLst/>
              <a:cxnLst/>
              <a:rect r="r" b="b" t="t" l="l"/>
              <a:pathLst>
                <a:path h="558800" w="558800">
                  <a:moveTo>
                    <a:pt x="0" y="279400"/>
                  </a:moveTo>
                  <a:cubicBezTo>
                    <a:pt x="0" y="125095"/>
                    <a:pt x="125095" y="0"/>
                    <a:pt x="279400" y="0"/>
                  </a:cubicBezTo>
                  <a:cubicBezTo>
                    <a:pt x="433705" y="0"/>
                    <a:pt x="558800" y="125095"/>
                    <a:pt x="558800" y="279400"/>
                  </a:cubicBezTo>
                  <a:cubicBezTo>
                    <a:pt x="558800" y="433705"/>
                    <a:pt x="433705" y="558800"/>
                    <a:pt x="279400" y="558800"/>
                  </a:cubicBezTo>
                  <a:cubicBezTo>
                    <a:pt x="125095" y="558800"/>
                    <a:pt x="0" y="433705"/>
                    <a:pt x="0" y="279400"/>
                  </a:cubicBezTo>
                  <a:close/>
                </a:path>
              </a:pathLst>
            </a:custGeom>
            <a:solidFill>
              <a:srgbClr val="B2A0DE"/>
            </a:solidFill>
          </p:spPr>
        </p:sp>
      </p:grpSp>
      <p:sp>
        <p:nvSpPr>
          <p:cNvPr name="TextBox 81" id="81"/>
          <p:cNvSpPr txBox="true"/>
          <p:nvPr/>
        </p:nvSpPr>
        <p:spPr>
          <a:xfrm rot="0">
            <a:off x="4933950" y="9477375"/>
            <a:ext cx="264300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4</a:t>
            </a:r>
          </a:p>
        </p:txBody>
      </p:sp>
      <p:grpSp>
        <p:nvGrpSpPr>
          <p:cNvPr name="Group 82" id="82"/>
          <p:cNvGrpSpPr/>
          <p:nvPr/>
        </p:nvGrpSpPr>
        <p:grpSpPr>
          <a:xfrm rot="0">
            <a:off x="10763250" y="2819400"/>
            <a:ext cx="419100" cy="419100"/>
            <a:chOff x="0" y="0"/>
            <a:chExt cx="558800" cy="55880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558800" cy="558800"/>
            </a:xfrm>
            <a:custGeom>
              <a:avLst/>
              <a:gdLst/>
              <a:ahLst/>
              <a:cxnLst/>
              <a:rect r="r" b="b" t="t" l="l"/>
              <a:pathLst>
                <a:path h="558800" w="558800">
                  <a:moveTo>
                    <a:pt x="0" y="279400"/>
                  </a:moveTo>
                  <a:cubicBezTo>
                    <a:pt x="0" y="125095"/>
                    <a:pt x="125095" y="0"/>
                    <a:pt x="279400" y="0"/>
                  </a:cubicBezTo>
                  <a:cubicBezTo>
                    <a:pt x="433705" y="0"/>
                    <a:pt x="558800" y="125095"/>
                    <a:pt x="558800" y="279400"/>
                  </a:cubicBezTo>
                  <a:cubicBezTo>
                    <a:pt x="558800" y="433705"/>
                    <a:pt x="433705" y="558800"/>
                    <a:pt x="279400" y="558800"/>
                  </a:cubicBezTo>
                  <a:cubicBezTo>
                    <a:pt x="125095" y="558800"/>
                    <a:pt x="0" y="433705"/>
                    <a:pt x="0" y="279400"/>
                  </a:cubicBezTo>
                  <a:close/>
                </a:path>
              </a:pathLst>
            </a:custGeom>
            <a:solidFill>
              <a:srgbClr val="B2A0DE"/>
            </a:solidFill>
          </p:spPr>
        </p:sp>
      </p:grpSp>
      <p:sp>
        <p:nvSpPr>
          <p:cNvPr name="TextBox 84" id="84"/>
          <p:cNvSpPr txBox="true"/>
          <p:nvPr/>
        </p:nvSpPr>
        <p:spPr>
          <a:xfrm rot="0">
            <a:off x="10839450" y="2886075"/>
            <a:ext cx="264300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1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11334750" y="2847975"/>
            <a:ext cx="400050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2100" strike="noStrike" u="none">
                <a:solidFill>
                  <a:srgbClr val="BCA4EE"/>
                </a:solidFill>
                <a:latin typeface="Arial Bold"/>
                <a:ea typeface="Arial Bold"/>
                <a:cs typeface="Arial Bold"/>
                <a:sym typeface="Arial Bold"/>
              </a:rPr>
              <a:t>Ricerca e filtri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11334750" y="3171825"/>
            <a:ext cx="4000500" cy="708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8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D4D4D4"/>
                </a:solidFill>
                <a:latin typeface="Arial"/>
                <a:ea typeface="Arial"/>
                <a:cs typeface="Arial"/>
                <a:sym typeface="Arial"/>
              </a:rPr>
              <a:t>filtri a scorrimento orizzontale, sotto la ricerca</a:t>
            </a:r>
          </a:p>
        </p:txBody>
      </p:sp>
      <p:grpSp>
        <p:nvGrpSpPr>
          <p:cNvPr name="Group 87" id="87"/>
          <p:cNvGrpSpPr/>
          <p:nvPr/>
        </p:nvGrpSpPr>
        <p:grpSpPr>
          <a:xfrm rot="0">
            <a:off x="10763250" y="4629150"/>
            <a:ext cx="419100" cy="419100"/>
            <a:chOff x="0" y="0"/>
            <a:chExt cx="558800" cy="55880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558800" cy="558800"/>
            </a:xfrm>
            <a:custGeom>
              <a:avLst/>
              <a:gdLst/>
              <a:ahLst/>
              <a:cxnLst/>
              <a:rect r="r" b="b" t="t" l="l"/>
              <a:pathLst>
                <a:path h="558800" w="558800">
                  <a:moveTo>
                    <a:pt x="0" y="279400"/>
                  </a:moveTo>
                  <a:cubicBezTo>
                    <a:pt x="0" y="125095"/>
                    <a:pt x="125095" y="0"/>
                    <a:pt x="279400" y="0"/>
                  </a:cubicBezTo>
                  <a:cubicBezTo>
                    <a:pt x="433705" y="0"/>
                    <a:pt x="558800" y="125095"/>
                    <a:pt x="558800" y="279400"/>
                  </a:cubicBezTo>
                  <a:cubicBezTo>
                    <a:pt x="558800" y="433705"/>
                    <a:pt x="433705" y="558800"/>
                    <a:pt x="279400" y="558800"/>
                  </a:cubicBezTo>
                  <a:cubicBezTo>
                    <a:pt x="125095" y="558800"/>
                    <a:pt x="0" y="433705"/>
                    <a:pt x="0" y="279400"/>
                  </a:cubicBezTo>
                  <a:close/>
                </a:path>
              </a:pathLst>
            </a:custGeom>
            <a:solidFill>
              <a:srgbClr val="B2A0DE"/>
            </a:solidFill>
          </p:spPr>
        </p:sp>
      </p:grpSp>
      <p:sp>
        <p:nvSpPr>
          <p:cNvPr name="TextBox 89" id="89"/>
          <p:cNvSpPr txBox="true"/>
          <p:nvPr/>
        </p:nvSpPr>
        <p:spPr>
          <a:xfrm rot="0">
            <a:off x="10839450" y="4695825"/>
            <a:ext cx="264300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2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11334750" y="4657725"/>
            <a:ext cx="400050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2100" strike="noStrike" u="none">
                <a:solidFill>
                  <a:srgbClr val="BCA4EE"/>
                </a:solidFill>
                <a:latin typeface="Arial Bold"/>
                <a:ea typeface="Arial Bold"/>
                <a:cs typeface="Arial Bold"/>
                <a:sym typeface="Arial Bold"/>
              </a:rPr>
              <a:t>Miniature leggere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11334750" y="4981575"/>
            <a:ext cx="4000500" cy="355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8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D4D4D4"/>
                </a:solidFill>
                <a:latin typeface="Arial"/>
                <a:ea typeface="Arial"/>
                <a:cs typeface="Arial"/>
                <a:sym typeface="Arial"/>
              </a:rPr>
              <a:t>due per riga, con il bordo della fazione</a:t>
            </a:r>
          </a:p>
        </p:txBody>
      </p:sp>
      <p:grpSp>
        <p:nvGrpSpPr>
          <p:cNvPr name="Group 92" id="92"/>
          <p:cNvGrpSpPr/>
          <p:nvPr/>
        </p:nvGrpSpPr>
        <p:grpSpPr>
          <a:xfrm rot="0">
            <a:off x="10763250" y="6438900"/>
            <a:ext cx="419100" cy="419100"/>
            <a:chOff x="0" y="0"/>
            <a:chExt cx="558800" cy="55880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558800" cy="558800"/>
            </a:xfrm>
            <a:custGeom>
              <a:avLst/>
              <a:gdLst/>
              <a:ahLst/>
              <a:cxnLst/>
              <a:rect r="r" b="b" t="t" l="l"/>
              <a:pathLst>
                <a:path h="558800" w="558800">
                  <a:moveTo>
                    <a:pt x="0" y="279400"/>
                  </a:moveTo>
                  <a:cubicBezTo>
                    <a:pt x="0" y="125095"/>
                    <a:pt x="125095" y="0"/>
                    <a:pt x="279400" y="0"/>
                  </a:cubicBezTo>
                  <a:cubicBezTo>
                    <a:pt x="433705" y="0"/>
                    <a:pt x="558800" y="125095"/>
                    <a:pt x="558800" y="279400"/>
                  </a:cubicBezTo>
                  <a:cubicBezTo>
                    <a:pt x="558800" y="433705"/>
                    <a:pt x="433705" y="558800"/>
                    <a:pt x="279400" y="558800"/>
                  </a:cubicBezTo>
                  <a:cubicBezTo>
                    <a:pt x="125095" y="558800"/>
                    <a:pt x="0" y="433705"/>
                    <a:pt x="0" y="279400"/>
                  </a:cubicBezTo>
                  <a:close/>
                </a:path>
              </a:pathLst>
            </a:custGeom>
            <a:solidFill>
              <a:srgbClr val="B2A0DE"/>
            </a:solidFill>
          </p:spPr>
        </p:sp>
      </p:grpSp>
      <p:sp>
        <p:nvSpPr>
          <p:cNvPr name="TextBox 94" id="94"/>
          <p:cNvSpPr txBox="true"/>
          <p:nvPr/>
        </p:nvSpPr>
        <p:spPr>
          <a:xfrm rot="0">
            <a:off x="10839450" y="6505575"/>
            <a:ext cx="264300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3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11334750" y="6467475"/>
            <a:ext cx="2308727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BCA4EE"/>
                </a:solidFill>
                <a:latin typeface="Arial Bold"/>
                <a:ea typeface="Arial Bold"/>
                <a:cs typeface="Arial Bold"/>
                <a:sym typeface="Arial Bold"/>
              </a:rPr>
              <a:t>Copie possedute</a:t>
            </a:r>
          </a:p>
        </p:txBody>
      </p:sp>
      <p:sp>
        <p:nvSpPr>
          <p:cNvPr name="TextBox 96" id="96"/>
          <p:cNvSpPr txBox="true"/>
          <p:nvPr/>
        </p:nvSpPr>
        <p:spPr>
          <a:xfrm rot="0">
            <a:off x="11334750" y="6791325"/>
            <a:ext cx="4000500" cy="355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>
                <a:solidFill>
                  <a:srgbClr val="D4D4D4"/>
                </a:solidFill>
                <a:latin typeface="Arial"/>
                <a:ea typeface="Arial"/>
                <a:cs typeface="Arial"/>
                <a:sym typeface="Arial"/>
              </a:rPr>
              <a:t>indicate sulla carta (x2)</a:t>
            </a:r>
          </a:p>
        </p:txBody>
      </p:sp>
      <p:grpSp>
        <p:nvGrpSpPr>
          <p:cNvPr name="Group 97" id="97"/>
          <p:cNvGrpSpPr/>
          <p:nvPr/>
        </p:nvGrpSpPr>
        <p:grpSpPr>
          <a:xfrm rot="0">
            <a:off x="10763250" y="8248650"/>
            <a:ext cx="419100" cy="419100"/>
            <a:chOff x="0" y="0"/>
            <a:chExt cx="558800" cy="55880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558800" cy="558800"/>
            </a:xfrm>
            <a:custGeom>
              <a:avLst/>
              <a:gdLst/>
              <a:ahLst/>
              <a:cxnLst/>
              <a:rect r="r" b="b" t="t" l="l"/>
              <a:pathLst>
                <a:path h="558800" w="558800">
                  <a:moveTo>
                    <a:pt x="0" y="279400"/>
                  </a:moveTo>
                  <a:cubicBezTo>
                    <a:pt x="0" y="125095"/>
                    <a:pt x="125095" y="0"/>
                    <a:pt x="279400" y="0"/>
                  </a:cubicBezTo>
                  <a:cubicBezTo>
                    <a:pt x="433705" y="0"/>
                    <a:pt x="558800" y="125095"/>
                    <a:pt x="558800" y="279400"/>
                  </a:cubicBezTo>
                  <a:cubicBezTo>
                    <a:pt x="558800" y="433705"/>
                    <a:pt x="433705" y="558800"/>
                    <a:pt x="279400" y="558800"/>
                  </a:cubicBezTo>
                  <a:cubicBezTo>
                    <a:pt x="125095" y="558800"/>
                    <a:pt x="0" y="433705"/>
                    <a:pt x="0" y="279400"/>
                  </a:cubicBezTo>
                  <a:close/>
                </a:path>
              </a:pathLst>
            </a:custGeom>
            <a:solidFill>
              <a:srgbClr val="B2A0DE"/>
            </a:solidFill>
          </p:spPr>
        </p:sp>
      </p:grpSp>
      <p:sp>
        <p:nvSpPr>
          <p:cNvPr name="TextBox 99" id="99"/>
          <p:cNvSpPr txBox="true"/>
          <p:nvPr/>
        </p:nvSpPr>
        <p:spPr>
          <a:xfrm rot="0">
            <a:off x="10839450" y="8315325"/>
            <a:ext cx="264300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4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11334750" y="8277225"/>
            <a:ext cx="400050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2100" strike="noStrike" u="none">
                <a:solidFill>
                  <a:srgbClr val="BCA4EE"/>
                </a:solidFill>
                <a:latin typeface="Arial Bold"/>
                <a:ea typeface="Arial Bold"/>
                <a:cs typeface="Arial Bold"/>
                <a:sym typeface="Arial Bold"/>
              </a:rPr>
              <a:t>Menu in basso</a:t>
            </a:r>
          </a:p>
        </p:txBody>
      </p:sp>
      <p:sp>
        <p:nvSpPr>
          <p:cNvPr name="TextBox 101" id="101"/>
          <p:cNvSpPr txBox="true"/>
          <p:nvPr/>
        </p:nvSpPr>
        <p:spPr>
          <a:xfrm rot="0">
            <a:off x="11334750" y="8601075"/>
            <a:ext cx="4000500" cy="355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8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D4D4D4"/>
                </a:solidFill>
                <a:latin typeface="Arial"/>
                <a:ea typeface="Arial"/>
                <a:cs typeface="Arial"/>
                <a:sym typeface="Arial"/>
              </a:rPr>
              <a:t>le sezioni principali a portata di pollice</a:t>
            </a:r>
          </a:p>
        </p:txBody>
      </p:sp>
      <p:sp>
        <p:nvSpPr>
          <p:cNvPr name="TextBox 102" id="102"/>
          <p:cNvSpPr txBox="true"/>
          <p:nvPr/>
        </p:nvSpPr>
        <p:spPr>
          <a:xfrm rot="0">
            <a:off x="5428297" y="9505950"/>
            <a:ext cx="629096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8C8AA0"/>
                </a:solidFill>
                <a:latin typeface="Arial"/>
                <a:ea typeface="Arial"/>
                <a:cs typeface="Arial"/>
                <a:sym typeface="Arial"/>
              </a:rPr>
              <a:t>Negozio</a:t>
            </a:r>
          </a:p>
        </p:txBody>
      </p:sp>
      <p:sp>
        <p:nvSpPr>
          <p:cNvPr name="TextBox 103" id="103"/>
          <p:cNvSpPr txBox="true"/>
          <p:nvPr/>
        </p:nvSpPr>
        <p:spPr>
          <a:xfrm rot="0">
            <a:off x="6207442" y="9505950"/>
            <a:ext cx="857399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E9E7F2"/>
                </a:solidFill>
                <a:latin typeface="Arial Bold"/>
                <a:ea typeface="Arial Bold"/>
                <a:cs typeface="Arial Bold"/>
                <a:sym typeface="Arial Bold"/>
              </a:rPr>
              <a:t>Collezione</a:t>
            </a:r>
          </a:p>
        </p:txBody>
      </p:sp>
      <p:sp>
        <p:nvSpPr>
          <p:cNvPr name="TextBox 104" id="104"/>
          <p:cNvSpPr txBox="true"/>
          <p:nvPr/>
        </p:nvSpPr>
        <p:spPr>
          <a:xfrm rot="0">
            <a:off x="7248525" y="9505950"/>
            <a:ext cx="447824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8C8AA0"/>
                </a:solidFill>
                <a:latin typeface="Arial"/>
                <a:ea typeface="Arial"/>
                <a:cs typeface="Arial"/>
                <a:sym typeface="Arial"/>
              </a:rPr>
              <a:t>Mazzi</a:t>
            </a:r>
          </a:p>
        </p:txBody>
      </p:sp>
      <p:sp>
        <p:nvSpPr>
          <p:cNvPr name="TextBox 105" id="105"/>
          <p:cNvSpPr txBox="true"/>
          <p:nvPr/>
        </p:nvSpPr>
        <p:spPr>
          <a:xfrm rot="0">
            <a:off x="8127682" y="9505950"/>
            <a:ext cx="419100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8C8AA0"/>
                </a:solidFill>
                <a:latin typeface="Arial"/>
                <a:ea typeface="Arial"/>
                <a:cs typeface="Arial"/>
                <a:sym typeface="Arial"/>
              </a:rPr>
              <a:t>Amici</a:t>
            </a:r>
          </a:p>
        </p:txBody>
      </p:sp>
      <p:sp>
        <p:nvSpPr>
          <p:cNvPr name="TextBox 106" id="106"/>
          <p:cNvSpPr txBox="true"/>
          <p:nvPr/>
        </p:nvSpPr>
        <p:spPr>
          <a:xfrm rot="0">
            <a:off x="9006840" y="9505950"/>
            <a:ext cx="390823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8C8AA0"/>
                </a:solidFill>
                <a:latin typeface="Arial"/>
                <a:ea typeface="Arial"/>
                <a:cs typeface="Arial"/>
                <a:sym typeface="Arial"/>
              </a:rPr>
              <a:t>Sfide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57250" y="361950"/>
            <a:ext cx="762000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40"/>
              </a:lnSpc>
              <a:spcBef>
                <a:spcPct val="0"/>
              </a:spcBef>
            </a:pPr>
            <a:r>
              <a:rPr lang="en-US" b="true" sz="1950" strike="noStrike" u="none">
                <a:solidFill>
                  <a:srgbClr val="B9B9B9"/>
                </a:solidFill>
                <a:latin typeface="Arial Bold"/>
                <a:ea typeface="Arial Bold"/>
                <a:cs typeface="Arial Bold"/>
                <a:sym typeface="Arial Bold"/>
              </a:rPr>
              <a:t>WEB DEVELOPMENT · WIREFRAME SMARTPHONE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57250" y="676275"/>
            <a:ext cx="10437428" cy="925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59"/>
              </a:lnSpc>
            </a:pPr>
            <a:r>
              <a:rPr lang="en-US" sz="5550">
                <a:solidFill>
                  <a:srgbClr val="E9E7F2"/>
                </a:solidFill>
                <a:latin typeface="Georgia"/>
                <a:ea typeface="Georgia"/>
                <a:cs typeface="Georgia"/>
                <a:sym typeface="Georgia"/>
              </a:rPr>
              <a:t>Negozio e apertura dei pacchetti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4095750" y="1809750"/>
            <a:ext cx="4381500" cy="8191500"/>
            <a:chOff x="0" y="0"/>
            <a:chExt cx="5842000" cy="10922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842000" cy="10922000"/>
            </a:xfrm>
            <a:custGeom>
              <a:avLst/>
              <a:gdLst/>
              <a:ahLst/>
              <a:cxnLst/>
              <a:rect r="r" b="b" t="t" l="l"/>
              <a:pathLst>
                <a:path h="10922000" w="5842000">
                  <a:moveTo>
                    <a:pt x="0" y="191203"/>
                  </a:moveTo>
                  <a:cubicBezTo>
                    <a:pt x="0" y="85524"/>
                    <a:pt x="42561" y="0"/>
                    <a:pt x="95085" y="0"/>
                  </a:cubicBezTo>
                  <a:lnTo>
                    <a:pt x="5746847" y="0"/>
                  </a:lnTo>
                  <a:cubicBezTo>
                    <a:pt x="5799439" y="0"/>
                    <a:pt x="5842000" y="85524"/>
                    <a:pt x="5842000" y="191067"/>
                  </a:cubicBezTo>
                  <a:lnTo>
                    <a:pt x="5842000" y="10730797"/>
                  </a:lnTo>
                  <a:cubicBezTo>
                    <a:pt x="5842000" y="10836340"/>
                    <a:pt x="5799439" y="10922000"/>
                    <a:pt x="5746847" y="10922000"/>
                  </a:cubicBezTo>
                  <a:lnTo>
                    <a:pt x="95153" y="10922000"/>
                  </a:lnTo>
                  <a:cubicBezTo>
                    <a:pt x="42561" y="10922000"/>
                    <a:pt x="0" y="10836476"/>
                    <a:pt x="0" y="10730797"/>
                  </a:cubicBezTo>
                  <a:close/>
                </a:path>
              </a:pathLst>
            </a:custGeom>
            <a:solidFill>
              <a:srgbClr val="16151C"/>
            </a:solidFill>
            <a:ln w="19050" cap="sq">
              <a:solidFill>
                <a:srgbClr val="4A4858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4124325" y="1838325"/>
            <a:ext cx="4324350" cy="590550"/>
            <a:chOff x="0" y="0"/>
            <a:chExt cx="5765800" cy="787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765800" cy="787400"/>
            </a:xfrm>
            <a:custGeom>
              <a:avLst/>
              <a:gdLst/>
              <a:ahLst/>
              <a:cxnLst/>
              <a:rect r="r" b="b" t="t" l="l"/>
              <a:pathLst>
                <a:path h="787400" w="5765800">
                  <a:moveTo>
                    <a:pt x="0" y="0"/>
                  </a:moveTo>
                  <a:lnTo>
                    <a:pt x="5765800" y="0"/>
                  </a:lnTo>
                  <a:lnTo>
                    <a:pt x="5765800" y="787400"/>
                  </a:lnTo>
                  <a:lnTo>
                    <a:pt x="0" y="787400"/>
                  </a:lnTo>
                  <a:close/>
                </a:path>
              </a:pathLst>
            </a:custGeom>
            <a:solidFill>
              <a:srgbClr val="1E1D26"/>
            </a:solidFill>
          </p:spPr>
        </p:sp>
      </p:grpSp>
      <p:sp>
        <p:nvSpPr>
          <p:cNvPr name="AutoShape 8" id="8"/>
          <p:cNvSpPr/>
          <p:nvPr/>
        </p:nvSpPr>
        <p:spPr>
          <a:xfrm>
            <a:off x="4095750" y="2428875"/>
            <a:ext cx="4381500" cy="0"/>
          </a:xfrm>
          <a:prstGeom prst="line">
            <a:avLst/>
          </a:prstGeom>
          <a:ln cap="rnd" w="19050">
            <a:solidFill>
              <a:srgbClr val="4A485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4305300" y="1952625"/>
            <a:ext cx="1842354" cy="331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E9E7F2"/>
                </a:solidFill>
                <a:latin typeface="Georgia"/>
                <a:ea typeface="Georgia"/>
                <a:cs typeface="Georgia"/>
                <a:sym typeface="Georgia"/>
              </a:rPr>
              <a:t>DREAMSCAPE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478655" y="9505950"/>
            <a:ext cx="666750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E9E7F2"/>
                </a:solidFill>
                <a:latin typeface="Arial Bold"/>
                <a:ea typeface="Arial Bold"/>
                <a:cs typeface="Arial Bold"/>
                <a:sym typeface="Arial Bold"/>
              </a:rPr>
              <a:t>Negozio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834062" y="9505950"/>
            <a:ext cx="800695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8C8AA0"/>
                </a:solidFill>
                <a:latin typeface="Arial"/>
                <a:ea typeface="Arial"/>
                <a:cs typeface="Arial"/>
                <a:sym typeface="Arial"/>
              </a:rPr>
              <a:t>Collezione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451407" y="9505950"/>
            <a:ext cx="447824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8C8AA0"/>
                </a:solidFill>
                <a:latin typeface="Arial"/>
                <a:ea typeface="Arial"/>
                <a:cs typeface="Arial"/>
                <a:sym typeface="Arial"/>
              </a:rPr>
              <a:t>Mazzi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343400" y="2676525"/>
            <a:ext cx="3213659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E9E7F2"/>
                </a:solidFill>
                <a:latin typeface="Arial Bold"/>
                <a:ea typeface="Arial Bold"/>
                <a:cs typeface="Arial Bold"/>
                <a:sym typeface="Arial Bold"/>
              </a:rPr>
              <a:t>Pacchetto base · 5 carte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343400" y="3086100"/>
            <a:ext cx="1838039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8C8AA0"/>
                </a:solidFill>
                <a:latin typeface="Arial"/>
                <a:ea typeface="Arial"/>
                <a:cs typeface="Arial"/>
                <a:sym typeface="Arial"/>
              </a:rPr>
              <a:t>Scegli la copertina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4343400" y="3571875"/>
            <a:ext cx="1219200" cy="2762250"/>
            <a:chOff x="0" y="0"/>
            <a:chExt cx="1625600" cy="3683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625600" cy="3683000"/>
            </a:xfrm>
            <a:custGeom>
              <a:avLst/>
              <a:gdLst/>
              <a:ahLst/>
              <a:cxnLst/>
              <a:rect r="r" b="b" t="t" l="l"/>
              <a:pathLst>
                <a:path h="3683000" w="1625600">
                  <a:moveTo>
                    <a:pt x="0" y="130305"/>
                  </a:moveTo>
                  <a:cubicBezTo>
                    <a:pt x="0" y="58368"/>
                    <a:pt x="36408" y="0"/>
                    <a:pt x="81280" y="0"/>
                  </a:cubicBezTo>
                  <a:lnTo>
                    <a:pt x="1544320" y="0"/>
                  </a:lnTo>
                  <a:cubicBezTo>
                    <a:pt x="1589192" y="0"/>
                    <a:pt x="1625600" y="58368"/>
                    <a:pt x="1625600" y="130305"/>
                  </a:cubicBezTo>
                  <a:lnTo>
                    <a:pt x="1625600" y="3552695"/>
                  </a:lnTo>
                  <a:cubicBezTo>
                    <a:pt x="1625600" y="3624632"/>
                    <a:pt x="1589192" y="3683000"/>
                    <a:pt x="1544320" y="3683000"/>
                  </a:cubicBezTo>
                  <a:lnTo>
                    <a:pt x="81280" y="3683000"/>
                  </a:lnTo>
                  <a:cubicBezTo>
                    <a:pt x="36408" y="3683000"/>
                    <a:pt x="0" y="3624632"/>
                    <a:pt x="0" y="3552695"/>
                  </a:cubicBezTo>
                  <a:close/>
                </a:path>
              </a:pathLst>
            </a:custGeom>
            <a:solidFill>
              <a:srgbClr val="1B1A22"/>
            </a:solidFill>
            <a:ln w="19050" cap="sq">
              <a:solidFill>
                <a:srgbClr val="96C5E1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4343400" y="5276850"/>
            <a:ext cx="121920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20"/>
              </a:lnSpc>
              <a:spcBef>
                <a:spcPct val="0"/>
              </a:spcBef>
            </a:pPr>
            <a:r>
              <a:rPr lang="en-US" sz="1350" strike="noStrike" u="none">
                <a:solidFill>
                  <a:srgbClr val="96C5E1"/>
                </a:solidFill>
                <a:latin typeface="Arial"/>
                <a:ea typeface="Arial"/>
                <a:cs typeface="Arial"/>
                <a:sym typeface="Arial"/>
              </a:rPr>
              <a:t>Dreams</a:t>
            </a:r>
          </a:p>
          <a:p>
            <a:pPr algn="ctr" marL="0" indent="0" lvl="0">
              <a:lnSpc>
                <a:spcPts val="1620"/>
              </a:lnSpc>
              <a:spcBef>
                <a:spcPct val="0"/>
              </a:spcBef>
            </a:pPr>
            <a:r>
              <a:rPr lang="en-US" sz="1350" strike="noStrike" u="none">
                <a:solidFill>
                  <a:srgbClr val="96C5E1"/>
                </a:solidFill>
                <a:latin typeface="Arial"/>
                <a:ea typeface="Arial"/>
                <a:cs typeface="Arial"/>
                <a:sym typeface="Arial"/>
              </a:rPr>
              <a:t>Lord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5676900" y="3571875"/>
            <a:ext cx="1219200" cy="2762250"/>
            <a:chOff x="0" y="0"/>
            <a:chExt cx="1625600" cy="3683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625600" cy="3683000"/>
            </a:xfrm>
            <a:custGeom>
              <a:avLst/>
              <a:gdLst/>
              <a:ahLst/>
              <a:cxnLst/>
              <a:rect r="r" b="b" t="t" l="l"/>
              <a:pathLst>
                <a:path h="3683000" w="1625600">
                  <a:moveTo>
                    <a:pt x="0" y="130462"/>
                  </a:moveTo>
                  <a:cubicBezTo>
                    <a:pt x="0" y="58413"/>
                    <a:pt x="36392" y="0"/>
                    <a:pt x="81280" y="0"/>
                  </a:cubicBezTo>
                  <a:lnTo>
                    <a:pt x="1544320" y="0"/>
                  </a:lnTo>
                  <a:cubicBezTo>
                    <a:pt x="1589208" y="0"/>
                    <a:pt x="1625600" y="58413"/>
                    <a:pt x="1625600" y="130462"/>
                  </a:cubicBezTo>
                  <a:lnTo>
                    <a:pt x="1625600" y="3552538"/>
                  </a:lnTo>
                  <a:cubicBezTo>
                    <a:pt x="1625600" y="3624587"/>
                    <a:pt x="1589208" y="3683000"/>
                    <a:pt x="1544320" y="3683000"/>
                  </a:cubicBezTo>
                  <a:lnTo>
                    <a:pt x="81280" y="3683000"/>
                  </a:lnTo>
                  <a:cubicBezTo>
                    <a:pt x="36392" y="3683000"/>
                    <a:pt x="0" y="3624587"/>
                    <a:pt x="0" y="3552538"/>
                  </a:cubicBezTo>
                  <a:close/>
                </a:path>
              </a:pathLst>
            </a:custGeom>
            <a:solidFill>
              <a:srgbClr val="1B1A22"/>
            </a:solidFill>
            <a:ln w="28575" cap="sq">
              <a:solidFill>
                <a:srgbClr val="FF738E"/>
              </a:solidFill>
              <a:prstDash val="solid"/>
              <a:miter/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5676900" y="5276850"/>
            <a:ext cx="121920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20"/>
              </a:lnSpc>
              <a:spcBef>
                <a:spcPct val="0"/>
              </a:spcBef>
            </a:pPr>
            <a:r>
              <a:rPr lang="en-US" sz="1350" strike="noStrike" u="none">
                <a:solidFill>
                  <a:srgbClr val="FF738E"/>
                </a:solidFill>
                <a:latin typeface="Arial"/>
                <a:ea typeface="Arial"/>
                <a:cs typeface="Arial"/>
                <a:sym typeface="Arial"/>
              </a:rPr>
              <a:t>Nightmares</a:t>
            </a:r>
          </a:p>
          <a:p>
            <a:pPr algn="ctr" marL="0" indent="0" lvl="0">
              <a:lnSpc>
                <a:spcPts val="1620"/>
              </a:lnSpc>
              <a:spcBef>
                <a:spcPct val="0"/>
              </a:spcBef>
            </a:pPr>
            <a:r>
              <a:rPr lang="en-US" sz="1350" strike="noStrike" u="none">
                <a:solidFill>
                  <a:srgbClr val="FF738E"/>
                </a:solidFill>
                <a:latin typeface="Arial"/>
                <a:ea typeface="Arial"/>
                <a:cs typeface="Arial"/>
                <a:sym typeface="Arial"/>
              </a:rPr>
              <a:t>Lord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7010400" y="3571875"/>
            <a:ext cx="1219200" cy="2762250"/>
            <a:chOff x="0" y="0"/>
            <a:chExt cx="1625600" cy="3683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625600" cy="3683000"/>
            </a:xfrm>
            <a:custGeom>
              <a:avLst/>
              <a:gdLst/>
              <a:ahLst/>
              <a:cxnLst/>
              <a:rect r="r" b="b" t="t" l="l"/>
              <a:pathLst>
                <a:path h="3683000" w="1625600">
                  <a:moveTo>
                    <a:pt x="0" y="130305"/>
                  </a:moveTo>
                  <a:cubicBezTo>
                    <a:pt x="0" y="58368"/>
                    <a:pt x="36408" y="0"/>
                    <a:pt x="81280" y="0"/>
                  </a:cubicBezTo>
                  <a:lnTo>
                    <a:pt x="1544320" y="0"/>
                  </a:lnTo>
                  <a:cubicBezTo>
                    <a:pt x="1589192" y="0"/>
                    <a:pt x="1625600" y="58368"/>
                    <a:pt x="1625600" y="130305"/>
                  </a:cubicBezTo>
                  <a:lnTo>
                    <a:pt x="1625600" y="3552695"/>
                  </a:lnTo>
                  <a:cubicBezTo>
                    <a:pt x="1625600" y="3624632"/>
                    <a:pt x="1589192" y="3683000"/>
                    <a:pt x="1544320" y="3683000"/>
                  </a:cubicBezTo>
                  <a:lnTo>
                    <a:pt x="81280" y="3683000"/>
                  </a:lnTo>
                  <a:cubicBezTo>
                    <a:pt x="36408" y="3683000"/>
                    <a:pt x="0" y="3624632"/>
                    <a:pt x="0" y="3552695"/>
                  </a:cubicBezTo>
                  <a:close/>
                </a:path>
              </a:pathLst>
            </a:custGeom>
            <a:solidFill>
              <a:srgbClr val="1B1A22"/>
            </a:solidFill>
            <a:ln w="19050" cap="sq">
              <a:solidFill>
                <a:srgbClr val="E6AD6B"/>
              </a:solidFill>
              <a:prstDash val="solid"/>
              <a:miter/>
            </a:ln>
          </p:spPr>
        </p:sp>
      </p:grpSp>
      <p:sp>
        <p:nvSpPr>
          <p:cNvPr name="TextBox 23" id="23"/>
          <p:cNvSpPr txBox="true"/>
          <p:nvPr/>
        </p:nvSpPr>
        <p:spPr>
          <a:xfrm rot="0">
            <a:off x="7010400" y="5276850"/>
            <a:ext cx="121920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20"/>
              </a:lnSpc>
              <a:spcBef>
                <a:spcPct val="0"/>
              </a:spcBef>
            </a:pPr>
            <a:r>
              <a:rPr lang="en-US" sz="1350" strike="noStrike" u="none">
                <a:solidFill>
                  <a:srgbClr val="E6AD6B"/>
                </a:solidFill>
                <a:latin typeface="Arial"/>
                <a:ea typeface="Arial"/>
                <a:cs typeface="Arial"/>
                <a:sym typeface="Arial"/>
              </a:rPr>
              <a:t>Memories</a:t>
            </a:r>
          </a:p>
          <a:p>
            <a:pPr algn="ctr" marL="0" indent="0" lvl="0">
              <a:lnSpc>
                <a:spcPts val="1620"/>
              </a:lnSpc>
              <a:spcBef>
                <a:spcPct val="0"/>
              </a:spcBef>
            </a:pPr>
            <a:r>
              <a:rPr lang="en-US" sz="1350" strike="noStrike" u="none">
                <a:solidFill>
                  <a:srgbClr val="E6AD6B"/>
                </a:solidFill>
                <a:latin typeface="Arial"/>
                <a:ea typeface="Arial"/>
                <a:cs typeface="Arial"/>
                <a:sym typeface="Arial"/>
              </a:rPr>
              <a:t>Lord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343400" y="6553200"/>
            <a:ext cx="3886200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8C8AA0"/>
                </a:solidFill>
                <a:latin typeface="Arial"/>
                <a:ea typeface="Arial"/>
                <a:cs typeface="Arial"/>
                <a:sym typeface="Arial"/>
              </a:rPr>
              <a:t>3 Comuni · 1 Rara · 1 Epica (10% Leggendaria)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4343400" y="7143750"/>
            <a:ext cx="3886200" cy="666750"/>
            <a:chOff x="0" y="0"/>
            <a:chExt cx="5181600" cy="8890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181600" cy="889000"/>
            </a:xfrm>
            <a:custGeom>
              <a:avLst/>
              <a:gdLst/>
              <a:ahLst/>
              <a:cxnLst/>
              <a:rect r="r" b="b" t="t" l="l"/>
              <a:pathLst>
                <a:path h="889000" w="5181600">
                  <a:moveTo>
                    <a:pt x="0" y="133350"/>
                  </a:moveTo>
                  <a:cubicBezTo>
                    <a:pt x="0" y="59674"/>
                    <a:pt x="34781" y="0"/>
                    <a:pt x="77724" y="0"/>
                  </a:cubicBezTo>
                  <a:lnTo>
                    <a:pt x="5103876" y="0"/>
                  </a:lnTo>
                  <a:cubicBezTo>
                    <a:pt x="5146818" y="0"/>
                    <a:pt x="5181600" y="59674"/>
                    <a:pt x="5181600" y="133350"/>
                  </a:cubicBezTo>
                  <a:lnTo>
                    <a:pt x="5181600" y="755650"/>
                  </a:lnTo>
                  <a:cubicBezTo>
                    <a:pt x="5181600" y="829326"/>
                    <a:pt x="5146818" y="889000"/>
                    <a:pt x="5103876" y="889000"/>
                  </a:cubicBezTo>
                  <a:lnTo>
                    <a:pt x="77724" y="889000"/>
                  </a:lnTo>
                  <a:cubicBezTo>
                    <a:pt x="34781" y="889000"/>
                    <a:pt x="0" y="829326"/>
                    <a:pt x="0" y="755650"/>
                  </a:cubicBezTo>
                  <a:close/>
                </a:path>
              </a:pathLst>
            </a:custGeom>
            <a:solidFill>
              <a:srgbClr val="B2A0DE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5086350" y="7267575"/>
            <a:ext cx="2410568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Apri · 100 crediti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810750" y="1809750"/>
            <a:ext cx="4381500" cy="8191500"/>
            <a:chOff x="0" y="0"/>
            <a:chExt cx="5842000" cy="109220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842000" cy="10922000"/>
            </a:xfrm>
            <a:custGeom>
              <a:avLst/>
              <a:gdLst/>
              <a:ahLst/>
              <a:cxnLst/>
              <a:rect r="r" b="b" t="t" l="l"/>
              <a:pathLst>
                <a:path h="10922000" w="5842000">
                  <a:moveTo>
                    <a:pt x="0" y="191203"/>
                  </a:moveTo>
                  <a:cubicBezTo>
                    <a:pt x="0" y="85524"/>
                    <a:pt x="44632" y="0"/>
                    <a:pt x="99712" y="0"/>
                  </a:cubicBezTo>
                  <a:lnTo>
                    <a:pt x="5742217" y="0"/>
                  </a:lnTo>
                  <a:cubicBezTo>
                    <a:pt x="5797367" y="0"/>
                    <a:pt x="5842000" y="85524"/>
                    <a:pt x="5842000" y="191067"/>
                  </a:cubicBezTo>
                  <a:lnTo>
                    <a:pt x="5842000" y="10730797"/>
                  </a:lnTo>
                  <a:cubicBezTo>
                    <a:pt x="5842000" y="10836340"/>
                    <a:pt x="5797367" y="10922000"/>
                    <a:pt x="5742217" y="10922000"/>
                  </a:cubicBezTo>
                  <a:lnTo>
                    <a:pt x="99783" y="10922000"/>
                  </a:lnTo>
                  <a:cubicBezTo>
                    <a:pt x="44632" y="10922000"/>
                    <a:pt x="0" y="10836476"/>
                    <a:pt x="0" y="10730797"/>
                  </a:cubicBezTo>
                  <a:close/>
                </a:path>
              </a:pathLst>
            </a:custGeom>
            <a:solidFill>
              <a:srgbClr val="16151C"/>
            </a:solidFill>
            <a:ln w="19050" cap="sq">
              <a:solidFill>
                <a:srgbClr val="4A4858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9839325" y="1838325"/>
            <a:ext cx="4324350" cy="590550"/>
            <a:chOff x="0" y="0"/>
            <a:chExt cx="5765800" cy="7874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765800" cy="787400"/>
            </a:xfrm>
            <a:custGeom>
              <a:avLst/>
              <a:gdLst/>
              <a:ahLst/>
              <a:cxnLst/>
              <a:rect r="r" b="b" t="t" l="l"/>
              <a:pathLst>
                <a:path h="787400" w="5765800">
                  <a:moveTo>
                    <a:pt x="0" y="0"/>
                  </a:moveTo>
                  <a:lnTo>
                    <a:pt x="5765800" y="0"/>
                  </a:lnTo>
                  <a:lnTo>
                    <a:pt x="5765800" y="787400"/>
                  </a:lnTo>
                  <a:lnTo>
                    <a:pt x="0" y="787400"/>
                  </a:lnTo>
                  <a:close/>
                </a:path>
              </a:pathLst>
            </a:custGeom>
            <a:solidFill>
              <a:srgbClr val="1E1D26"/>
            </a:solidFill>
          </p:spPr>
        </p:sp>
      </p:grpSp>
      <p:sp>
        <p:nvSpPr>
          <p:cNvPr name="AutoShape 32" id="32"/>
          <p:cNvSpPr/>
          <p:nvPr/>
        </p:nvSpPr>
        <p:spPr>
          <a:xfrm>
            <a:off x="9810750" y="2428875"/>
            <a:ext cx="4381500" cy="0"/>
          </a:xfrm>
          <a:prstGeom prst="line">
            <a:avLst/>
          </a:prstGeom>
          <a:ln cap="rnd" w="19050">
            <a:solidFill>
              <a:srgbClr val="4A485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3" id="33"/>
          <p:cNvSpPr txBox="true"/>
          <p:nvPr/>
        </p:nvSpPr>
        <p:spPr>
          <a:xfrm rot="0">
            <a:off x="10020300" y="1952625"/>
            <a:ext cx="1842354" cy="331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E9E7F2"/>
                </a:solidFill>
                <a:latin typeface="Georgia"/>
                <a:ea typeface="Georgia"/>
                <a:cs typeface="Georgia"/>
                <a:sym typeface="Georgia"/>
              </a:rPr>
              <a:t>DREAMSCAPE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049250" y="1981200"/>
            <a:ext cx="92945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8C8AA0"/>
                </a:solidFill>
                <a:latin typeface="Arial"/>
                <a:ea typeface="Arial"/>
                <a:cs typeface="Arial"/>
                <a:sym typeface="Arial"/>
              </a:rPr>
              <a:t>Apertura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058400" y="2676525"/>
            <a:ext cx="1657083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E9E7F2"/>
                </a:solidFill>
                <a:latin typeface="Arial Bold"/>
                <a:ea typeface="Arial Bold"/>
                <a:cs typeface="Arial Bold"/>
                <a:sym typeface="Arial Bold"/>
              </a:rPr>
              <a:t>Le tue carte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10058400" y="3238500"/>
            <a:ext cx="1219200" cy="1771650"/>
            <a:chOff x="0" y="0"/>
            <a:chExt cx="1625600" cy="23622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625600" cy="2362200"/>
            </a:xfrm>
            <a:custGeom>
              <a:avLst/>
              <a:gdLst/>
              <a:ahLst/>
              <a:cxnLst/>
              <a:rect r="r" b="b" t="t" l="l"/>
              <a:pathLst>
                <a:path h="2362200" w="1625600">
                  <a:moveTo>
                    <a:pt x="0" y="94956"/>
                  </a:moveTo>
                  <a:cubicBezTo>
                    <a:pt x="0" y="42449"/>
                    <a:pt x="42760" y="0"/>
                    <a:pt x="95651" y="0"/>
                  </a:cubicBezTo>
                  <a:lnTo>
                    <a:pt x="1529949" y="0"/>
                  </a:lnTo>
                  <a:cubicBezTo>
                    <a:pt x="1582840" y="0"/>
                    <a:pt x="1625600" y="42449"/>
                    <a:pt x="1625600" y="94956"/>
                  </a:cubicBezTo>
                  <a:lnTo>
                    <a:pt x="1625600" y="2267244"/>
                  </a:lnTo>
                  <a:cubicBezTo>
                    <a:pt x="1625600" y="2319634"/>
                    <a:pt x="1582840" y="2362200"/>
                    <a:pt x="1529949" y="2362200"/>
                  </a:cubicBezTo>
                  <a:lnTo>
                    <a:pt x="95651" y="2362200"/>
                  </a:lnTo>
                  <a:cubicBezTo>
                    <a:pt x="42760" y="2362200"/>
                    <a:pt x="0" y="2319750"/>
                    <a:pt x="0" y="2267244"/>
                  </a:cubicBezTo>
                  <a:close/>
                </a:path>
              </a:pathLst>
            </a:custGeom>
            <a:solidFill>
              <a:srgbClr val="1B1A22"/>
            </a:solidFill>
            <a:ln w="19050" cap="sq">
              <a:solidFill>
                <a:srgbClr val="96C5E1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10172700" y="3371850"/>
            <a:ext cx="990600" cy="723900"/>
            <a:chOff x="0" y="0"/>
            <a:chExt cx="1320800" cy="9652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320800" cy="965200"/>
            </a:xfrm>
            <a:custGeom>
              <a:avLst/>
              <a:gdLst/>
              <a:ahLst/>
              <a:cxnLst/>
              <a:rect r="r" b="b" t="t" l="l"/>
              <a:pathLst>
                <a:path h="965200" w="1320800">
                  <a:moveTo>
                    <a:pt x="0" y="0"/>
                  </a:moveTo>
                  <a:lnTo>
                    <a:pt x="1320800" y="0"/>
                  </a:lnTo>
                  <a:lnTo>
                    <a:pt x="13208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24232C"/>
            </a:solid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10172700" y="4210050"/>
            <a:ext cx="750913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8C8AA0"/>
                </a:solidFill>
                <a:latin typeface="Arial"/>
                <a:ea typeface="Arial"/>
                <a:cs typeface="Arial"/>
                <a:sym typeface="Arial"/>
              </a:rPr>
              <a:t>Comune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11391900" y="3238500"/>
            <a:ext cx="1219200" cy="1771650"/>
            <a:chOff x="0" y="0"/>
            <a:chExt cx="1625600" cy="23622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625600" cy="2362200"/>
            </a:xfrm>
            <a:custGeom>
              <a:avLst/>
              <a:gdLst/>
              <a:ahLst/>
              <a:cxnLst/>
              <a:rect r="r" b="b" t="t" l="l"/>
              <a:pathLst>
                <a:path h="2362200" w="1625600">
                  <a:moveTo>
                    <a:pt x="0" y="94956"/>
                  </a:moveTo>
                  <a:cubicBezTo>
                    <a:pt x="0" y="42449"/>
                    <a:pt x="42760" y="0"/>
                    <a:pt x="95651" y="0"/>
                  </a:cubicBezTo>
                  <a:lnTo>
                    <a:pt x="1529949" y="0"/>
                  </a:lnTo>
                  <a:cubicBezTo>
                    <a:pt x="1582840" y="0"/>
                    <a:pt x="1625600" y="42449"/>
                    <a:pt x="1625600" y="94956"/>
                  </a:cubicBezTo>
                  <a:lnTo>
                    <a:pt x="1625600" y="2267244"/>
                  </a:lnTo>
                  <a:cubicBezTo>
                    <a:pt x="1625600" y="2319634"/>
                    <a:pt x="1582840" y="2362200"/>
                    <a:pt x="1529949" y="2362200"/>
                  </a:cubicBezTo>
                  <a:lnTo>
                    <a:pt x="95651" y="2362200"/>
                  </a:lnTo>
                  <a:cubicBezTo>
                    <a:pt x="42760" y="2362200"/>
                    <a:pt x="0" y="2319750"/>
                    <a:pt x="0" y="2267244"/>
                  </a:cubicBezTo>
                  <a:close/>
                </a:path>
              </a:pathLst>
            </a:custGeom>
            <a:solidFill>
              <a:srgbClr val="1B1A22"/>
            </a:solidFill>
            <a:ln w="19050" cap="sq">
              <a:solidFill>
                <a:srgbClr val="E6AD6B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11506200" y="3371850"/>
            <a:ext cx="990600" cy="723900"/>
            <a:chOff x="0" y="0"/>
            <a:chExt cx="1320800" cy="9652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320800" cy="965200"/>
            </a:xfrm>
            <a:custGeom>
              <a:avLst/>
              <a:gdLst/>
              <a:ahLst/>
              <a:cxnLst/>
              <a:rect r="r" b="b" t="t" l="l"/>
              <a:pathLst>
                <a:path h="965200" w="1320800">
                  <a:moveTo>
                    <a:pt x="0" y="0"/>
                  </a:moveTo>
                  <a:lnTo>
                    <a:pt x="1320800" y="0"/>
                  </a:lnTo>
                  <a:lnTo>
                    <a:pt x="13208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24232C"/>
            </a:solidFill>
          </p:spPr>
        </p:sp>
      </p:grpSp>
      <p:sp>
        <p:nvSpPr>
          <p:cNvPr name="TextBox 45" id="45"/>
          <p:cNvSpPr txBox="true"/>
          <p:nvPr/>
        </p:nvSpPr>
        <p:spPr>
          <a:xfrm rot="0">
            <a:off x="11506200" y="4210050"/>
            <a:ext cx="474488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8C8AA0"/>
                </a:solidFill>
                <a:latin typeface="Arial"/>
                <a:ea typeface="Arial"/>
                <a:cs typeface="Arial"/>
                <a:sym typeface="Arial"/>
              </a:rPr>
              <a:t>Rara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12725400" y="3238500"/>
            <a:ext cx="1219200" cy="1771650"/>
            <a:chOff x="0" y="0"/>
            <a:chExt cx="1625600" cy="23622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625600" cy="2362200"/>
            </a:xfrm>
            <a:custGeom>
              <a:avLst/>
              <a:gdLst/>
              <a:ahLst/>
              <a:cxnLst/>
              <a:rect r="r" b="b" t="t" l="l"/>
              <a:pathLst>
                <a:path h="2362200" w="1625600">
                  <a:moveTo>
                    <a:pt x="0" y="94956"/>
                  </a:moveTo>
                  <a:cubicBezTo>
                    <a:pt x="0" y="42449"/>
                    <a:pt x="42760" y="0"/>
                    <a:pt x="95651" y="0"/>
                  </a:cubicBezTo>
                  <a:lnTo>
                    <a:pt x="1529949" y="0"/>
                  </a:lnTo>
                  <a:cubicBezTo>
                    <a:pt x="1582840" y="0"/>
                    <a:pt x="1625600" y="42449"/>
                    <a:pt x="1625600" y="94956"/>
                  </a:cubicBezTo>
                  <a:lnTo>
                    <a:pt x="1625600" y="2267244"/>
                  </a:lnTo>
                  <a:cubicBezTo>
                    <a:pt x="1625600" y="2319634"/>
                    <a:pt x="1582840" y="2362200"/>
                    <a:pt x="1529949" y="2362200"/>
                  </a:cubicBezTo>
                  <a:lnTo>
                    <a:pt x="95651" y="2362200"/>
                  </a:lnTo>
                  <a:cubicBezTo>
                    <a:pt x="42760" y="2362200"/>
                    <a:pt x="0" y="2319750"/>
                    <a:pt x="0" y="2267244"/>
                  </a:cubicBezTo>
                  <a:close/>
                </a:path>
              </a:pathLst>
            </a:custGeom>
            <a:solidFill>
              <a:srgbClr val="1B1A22"/>
            </a:solidFill>
            <a:ln w="19050" cap="sq">
              <a:solidFill>
                <a:srgbClr val="FF738E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12839700" y="3371850"/>
            <a:ext cx="990600" cy="723900"/>
            <a:chOff x="0" y="0"/>
            <a:chExt cx="1320800" cy="9652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320800" cy="965200"/>
            </a:xfrm>
            <a:custGeom>
              <a:avLst/>
              <a:gdLst/>
              <a:ahLst/>
              <a:cxnLst/>
              <a:rect r="r" b="b" t="t" l="l"/>
              <a:pathLst>
                <a:path h="965200" w="1320800">
                  <a:moveTo>
                    <a:pt x="0" y="0"/>
                  </a:moveTo>
                  <a:lnTo>
                    <a:pt x="1320800" y="0"/>
                  </a:lnTo>
                  <a:lnTo>
                    <a:pt x="13208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24232C"/>
            </a:solidFill>
          </p:spPr>
        </p:sp>
      </p:grpSp>
      <p:sp>
        <p:nvSpPr>
          <p:cNvPr name="TextBox 50" id="50"/>
          <p:cNvSpPr txBox="true"/>
          <p:nvPr/>
        </p:nvSpPr>
        <p:spPr>
          <a:xfrm rot="0">
            <a:off x="12839700" y="4210050"/>
            <a:ext cx="531743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8C8AA0"/>
                </a:solidFill>
                <a:latin typeface="Arial"/>
                <a:ea typeface="Arial"/>
                <a:cs typeface="Arial"/>
                <a:sym typeface="Arial"/>
              </a:rPr>
              <a:t>Epica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10725150" y="5143500"/>
            <a:ext cx="1219200" cy="1771650"/>
            <a:chOff x="0" y="0"/>
            <a:chExt cx="1625600" cy="23622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625600" cy="2362200"/>
            </a:xfrm>
            <a:custGeom>
              <a:avLst/>
              <a:gdLst/>
              <a:ahLst/>
              <a:cxnLst/>
              <a:rect r="r" b="b" t="t" l="l"/>
              <a:pathLst>
                <a:path h="2362200" w="1625600">
                  <a:moveTo>
                    <a:pt x="0" y="94956"/>
                  </a:moveTo>
                  <a:cubicBezTo>
                    <a:pt x="0" y="42449"/>
                    <a:pt x="42760" y="0"/>
                    <a:pt x="95651" y="0"/>
                  </a:cubicBezTo>
                  <a:lnTo>
                    <a:pt x="1529949" y="0"/>
                  </a:lnTo>
                  <a:cubicBezTo>
                    <a:pt x="1582840" y="0"/>
                    <a:pt x="1625600" y="42449"/>
                    <a:pt x="1625600" y="94956"/>
                  </a:cubicBezTo>
                  <a:lnTo>
                    <a:pt x="1625600" y="2267244"/>
                  </a:lnTo>
                  <a:cubicBezTo>
                    <a:pt x="1625600" y="2319634"/>
                    <a:pt x="1582840" y="2362200"/>
                    <a:pt x="1529949" y="2362200"/>
                  </a:cubicBezTo>
                  <a:lnTo>
                    <a:pt x="95651" y="2362200"/>
                  </a:lnTo>
                  <a:cubicBezTo>
                    <a:pt x="42760" y="2362200"/>
                    <a:pt x="0" y="2319750"/>
                    <a:pt x="0" y="2267244"/>
                  </a:cubicBezTo>
                  <a:close/>
                </a:path>
              </a:pathLst>
            </a:custGeom>
            <a:solidFill>
              <a:srgbClr val="2A2340"/>
            </a:solidFill>
            <a:ln w="19050" cap="sq">
              <a:solidFill>
                <a:srgbClr val="B2A0DE"/>
              </a:solidFill>
              <a:prstDash val="solid"/>
              <a:miter/>
            </a:ln>
          </p:spPr>
        </p:sp>
      </p:grpSp>
      <p:sp>
        <p:nvSpPr>
          <p:cNvPr name="TextBox 53" id="53"/>
          <p:cNvSpPr txBox="true"/>
          <p:nvPr/>
        </p:nvSpPr>
        <p:spPr>
          <a:xfrm rot="0">
            <a:off x="11115675" y="5762625"/>
            <a:ext cx="452009" cy="544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0"/>
              </a:lnSpc>
            </a:pPr>
            <a:r>
              <a:rPr lang="en-US" sz="3300">
                <a:solidFill>
                  <a:srgbClr val="B2A0DE"/>
                </a:solidFill>
                <a:latin typeface="Georgia"/>
                <a:ea typeface="Georgia"/>
                <a:cs typeface="Georgia"/>
                <a:sym typeface="Georgia"/>
              </a:rPr>
              <a:t>?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12058650" y="5143500"/>
            <a:ext cx="1219200" cy="1771650"/>
            <a:chOff x="0" y="0"/>
            <a:chExt cx="1625600" cy="23622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625600" cy="2362200"/>
            </a:xfrm>
            <a:custGeom>
              <a:avLst/>
              <a:gdLst/>
              <a:ahLst/>
              <a:cxnLst/>
              <a:rect r="r" b="b" t="t" l="l"/>
              <a:pathLst>
                <a:path h="2362200" w="1625600">
                  <a:moveTo>
                    <a:pt x="0" y="94956"/>
                  </a:moveTo>
                  <a:cubicBezTo>
                    <a:pt x="0" y="42449"/>
                    <a:pt x="42760" y="0"/>
                    <a:pt x="95651" y="0"/>
                  </a:cubicBezTo>
                  <a:lnTo>
                    <a:pt x="1529949" y="0"/>
                  </a:lnTo>
                  <a:cubicBezTo>
                    <a:pt x="1582840" y="0"/>
                    <a:pt x="1625600" y="42449"/>
                    <a:pt x="1625600" y="94956"/>
                  </a:cubicBezTo>
                  <a:lnTo>
                    <a:pt x="1625600" y="2267244"/>
                  </a:lnTo>
                  <a:cubicBezTo>
                    <a:pt x="1625600" y="2319634"/>
                    <a:pt x="1582840" y="2362200"/>
                    <a:pt x="1529949" y="2362200"/>
                  </a:cubicBezTo>
                  <a:lnTo>
                    <a:pt x="95651" y="2362200"/>
                  </a:lnTo>
                  <a:cubicBezTo>
                    <a:pt x="42760" y="2362200"/>
                    <a:pt x="0" y="2319750"/>
                    <a:pt x="0" y="2267244"/>
                  </a:cubicBezTo>
                  <a:close/>
                </a:path>
              </a:pathLst>
            </a:custGeom>
            <a:solidFill>
              <a:srgbClr val="2A2340"/>
            </a:solidFill>
            <a:ln w="19050" cap="sq">
              <a:solidFill>
                <a:srgbClr val="B2A0DE"/>
              </a:solidFill>
              <a:prstDash val="solid"/>
              <a:miter/>
            </a:ln>
          </p:spPr>
        </p:sp>
      </p:grpSp>
      <p:sp>
        <p:nvSpPr>
          <p:cNvPr name="TextBox 56" id="56"/>
          <p:cNvSpPr txBox="true"/>
          <p:nvPr/>
        </p:nvSpPr>
        <p:spPr>
          <a:xfrm rot="0">
            <a:off x="12449175" y="5762625"/>
            <a:ext cx="452009" cy="544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0"/>
              </a:lnSpc>
            </a:pPr>
            <a:r>
              <a:rPr lang="en-US" sz="3300">
                <a:solidFill>
                  <a:srgbClr val="B2A0DE"/>
                </a:solidFill>
                <a:latin typeface="Georgia"/>
                <a:ea typeface="Georgia"/>
                <a:cs typeface="Georgia"/>
                <a:sym typeface="Georgia"/>
              </a:rPr>
              <a:t>?</a:t>
            </a:r>
          </a:p>
        </p:txBody>
      </p:sp>
      <p:grpSp>
        <p:nvGrpSpPr>
          <p:cNvPr name="Group 57" id="57"/>
          <p:cNvGrpSpPr/>
          <p:nvPr/>
        </p:nvGrpSpPr>
        <p:grpSpPr>
          <a:xfrm rot="0">
            <a:off x="10058400" y="7143750"/>
            <a:ext cx="3886200" cy="666750"/>
            <a:chOff x="0" y="0"/>
            <a:chExt cx="5181600" cy="8890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5181600" cy="889000"/>
            </a:xfrm>
            <a:custGeom>
              <a:avLst/>
              <a:gdLst/>
              <a:ahLst/>
              <a:cxnLst/>
              <a:rect r="r" b="b" t="t" l="l"/>
              <a:pathLst>
                <a:path h="889000" w="5181600">
                  <a:moveTo>
                    <a:pt x="0" y="133350"/>
                  </a:moveTo>
                  <a:cubicBezTo>
                    <a:pt x="0" y="59736"/>
                    <a:pt x="37468" y="0"/>
                    <a:pt x="83640" y="0"/>
                  </a:cubicBezTo>
                  <a:lnTo>
                    <a:pt x="5097960" y="0"/>
                  </a:lnTo>
                  <a:cubicBezTo>
                    <a:pt x="5144132" y="0"/>
                    <a:pt x="5181600" y="59736"/>
                    <a:pt x="5181600" y="133350"/>
                  </a:cubicBezTo>
                  <a:lnTo>
                    <a:pt x="5181600" y="755650"/>
                  </a:lnTo>
                  <a:cubicBezTo>
                    <a:pt x="5181600" y="829264"/>
                    <a:pt x="5144132" y="889000"/>
                    <a:pt x="5097960" y="889000"/>
                  </a:cubicBezTo>
                  <a:lnTo>
                    <a:pt x="83640" y="889000"/>
                  </a:lnTo>
                  <a:cubicBezTo>
                    <a:pt x="37468" y="889000"/>
                    <a:pt x="0" y="829264"/>
                    <a:pt x="0" y="755650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3537" r="-86764" b="-170679"/>
              </a:stretch>
            </a:blipFill>
            <a:ln w="19050" cap="sq">
              <a:solidFill>
                <a:srgbClr val="B2A0DE"/>
              </a:solidFill>
              <a:prstDash val="solid"/>
              <a:miter/>
            </a:ln>
          </p:spPr>
        </p:sp>
      </p:grpSp>
      <p:sp>
        <p:nvSpPr>
          <p:cNvPr name="TextBox 59" id="59"/>
          <p:cNvSpPr txBox="true"/>
          <p:nvPr/>
        </p:nvSpPr>
        <p:spPr>
          <a:xfrm rot="0">
            <a:off x="10753725" y="7296150"/>
            <a:ext cx="2502237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true">
                <a:solidFill>
                  <a:srgbClr val="BCA4EE"/>
                </a:solidFill>
                <a:latin typeface="Arial Bold"/>
                <a:ea typeface="Arial Bold"/>
                <a:cs typeface="Arial Bold"/>
                <a:sym typeface="Arial Bold"/>
              </a:rPr>
              <a:t>Rivela la prossima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0058400" y="8029575"/>
            <a:ext cx="3886200" cy="588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500">
                <a:solidFill>
                  <a:srgbClr val="8C8AA0"/>
                </a:solidFill>
                <a:latin typeface="Arial"/>
                <a:ea typeface="Arial"/>
                <a:cs typeface="Arial"/>
                <a:sym typeface="Arial"/>
              </a:rPr>
              <a:t>L'id dell'apertura è nell'indirizzo: ricaricando la pagina non si compra un altro pacchetto.</a:t>
            </a:r>
          </a:p>
        </p:txBody>
      </p:sp>
      <p:sp>
        <p:nvSpPr>
          <p:cNvPr name="Freeform 61" id="61" descr="Simbolo Dreams"/>
          <p:cNvSpPr/>
          <p:nvPr/>
        </p:nvSpPr>
        <p:spPr>
          <a:xfrm flipH="false" flipV="false" rot="0">
            <a:off x="4619625" y="4381500"/>
            <a:ext cx="666750" cy="666750"/>
          </a:xfrm>
          <a:custGeom>
            <a:avLst/>
            <a:gdLst/>
            <a:ahLst/>
            <a:cxnLst/>
            <a:rect r="r" b="b" t="t" l="l"/>
            <a:pathLst>
              <a:path h="666750" w="666750">
                <a:moveTo>
                  <a:pt x="0" y="0"/>
                </a:moveTo>
                <a:lnTo>
                  <a:pt x="666750" y="0"/>
                </a:lnTo>
                <a:lnTo>
                  <a:pt x="666750" y="666750"/>
                </a:lnTo>
                <a:lnTo>
                  <a:pt x="0" y="6667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2" id="62" descr="Simbolo Nightmares"/>
          <p:cNvSpPr/>
          <p:nvPr/>
        </p:nvSpPr>
        <p:spPr>
          <a:xfrm flipH="false" flipV="false" rot="0">
            <a:off x="5953125" y="4381500"/>
            <a:ext cx="666750" cy="666750"/>
          </a:xfrm>
          <a:custGeom>
            <a:avLst/>
            <a:gdLst/>
            <a:ahLst/>
            <a:cxnLst/>
            <a:rect r="r" b="b" t="t" l="l"/>
            <a:pathLst>
              <a:path h="666750" w="666750">
                <a:moveTo>
                  <a:pt x="0" y="0"/>
                </a:moveTo>
                <a:lnTo>
                  <a:pt x="666750" y="0"/>
                </a:lnTo>
                <a:lnTo>
                  <a:pt x="666750" y="666750"/>
                </a:lnTo>
                <a:lnTo>
                  <a:pt x="0" y="6667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3" id="63" descr="Simbolo Memories"/>
          <p:cNvSpPr/>
          <p:nvPr/>
        </p:nvSpPr>
        <p:spPr>
          <a:xfrm flipH="false" flipV="false" rot="0">
            <a:off x="7286625" y="4381500"/>
            <a:ext cx="666750" cy="666750"/>
          </a:xfrm>
          <a:custGeom>
            <a:avLst/>
            <a:gdLst/>
            <a:ahLst/>
            <a:cxnLst/>
            <a:rect r="r" b="b" t="t" l="l"/>
            <a:pathLst>
              <a:path h="666750" w="666750">
                <a:moveTo>
                  <a:pt x="0" y="0"/>
                </a:moveTo>
                <a:lnTo>
                  <a:pt x="666750" y="0"/>
                </a:lnTo>
                <a:lnTo>
                  <a:pt x="666750" y="666750"/>
                </a:lnTo>
                <a:lnTo>
                  <a:pt x="0" y="6667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57250" y="676275"/>
            <a:ext cx="8572500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659"/>
              </a:lnSpc>
              <a:spcBef>
                <a:spcPct val="0"/>
              </a:spcBef>
            </a:pPr>
            <a:r>
              <a:rPr lang="en-US" sz="5550" strike="noStrike" u="none">
                <a:solidFill>
                  <a:srgbClr val="E9E7F2"/>
                </a:solidFill>
                <a:latin typeface="Georgia"/>
                <a:ea typeface="Georgia"/>
                <a:cs typeface="Georgia"/>
                <a:sym typeface="Georgia"/>
              </a:rPr>
              <a:t>Come lavoriamo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57250" y="1704975"/>
            <a:ext cx="1428750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60"/>
              </a:lnSpc>
              <a:spcBef>
                <a:spcPct val="0"/>
              </a:spcBef>
            </a:pPr>
            <a:r>
              <a:rPr lang="en-US" sz="2550" strike="noStrike" u="none">
                <a:solidFill>
                  <a:srgbClr val="B9B9B9"/>
                </a:solidFill>
                <a:latin typeface="Arial"/>
                <a:ea typeface="Arial"/>
                <a:cs typeface="Arial"/>
                <a:sym typeface="Arial"/>
              </a:rPr>
              <a:t>Metodo agile con board Kanban su GitHub Projects e sprint di una settimana</a:t>
            </a:r>
          </a:p>
        </p:txBody>
      </p:sp>
      <p:sp>
        <p:nvSpPr>
          <p:cNvPr name="AutoShape 4" id="4"/>
          <p:cNvSpPr/>
          <p:nvPr/>
        </p:nvSpPr>
        <p:spPr>
          <a:xfrm>
            <a:off x="1143000" y="3143250"/>
            <a:ext cx="16002000" cy="0"/>
          </a:xfrm>
          <a:prstGeom prst="line">
            <a:avLst/>
          </a:prstGeom>
          <a:ln cap="rnd" w="19050">
            <a:solidFill>
              <a:srgbClr val="34323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047750" y="3048000"/>
            <a:ext cx="190500" cy="190500"/>
            <a:chOff x="0" y="0"/>
            <a:chExt cx="254000" cy="254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4000" cy="254000"/>
            </a:xfrm>
            <a:custGeom>
              <a:avLst/>
              <a:gdLst/>
              <a:ahLst/>
              <a:cxnLst/>
              <a:rect r="r" b="b" t="t" l="l"/>
              <a:pathLst>
                <a:path h="254000" w="254000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cubicBezTo>
                    <a:pt x="197104" y="0"/>
                    <a:pt x="254000" y="56896"/>
                    <a:pt x="254000" y="127000"/>
                  </a:cubicBezTo>
                  <a:cubicBezTo>
                    <a:pt x="254000" y="197104"/>
                    <a:pt x="197104" y="254000"/>
                    <a:pt x="127000" y="254000"/>
                  </a:cubicBezTo>
                  <a:cubicBezTo>
                    <a:pt x="56896" y="254000"/>
                    <a:pt x="0" y="197104"/>
                    <a:pt x="0" y="127000"/>
                  </a:cubicBezTo>
                  <a:close/>
                </a:path>
              </a:pathLst>
            </a:custGeom>
            <a:solidFill>
              <a:srgbClr val="6E6A85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857250" y="3609975"/>
            <a:ext cx="1449505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E9E7F2"/>
                </a:solidFill>
                <a:latin typeface="Arial Bold"/>
                <a:ea typeface="Arial Bold"/>
                <a:cs typeface="Arial Bold"/>
                <a:sym typeface="Arial Bold"/>
              </a:rPr>
              <a:t>Sprint 1–2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57250" y="4000500"/>
            <a:ext cx="1535440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B9B9B9"/>
                </a:solidFill>
                <a:latin typeface="Arial"/>
                <a:ea typeface="Arial"/>
                <a:cs typeface="Arial"/>
                <a:sym typeface="Arial"/>
              </a:rPr>
              <a:t>19/10 – 01/11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57250" y="4552950"/>
            <a:ext cx="2129866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E9E7F2"/>
                </a:solidFill>
                <a:latin typeface="Georgia"/>
                <a:ea typeface="Georgia"/>
                <a:cs typeface="Georgia"/>
                <a:sym typeface="Georgia"/>
              </a:rPr>
              <a:t>Fondamenta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57250" y="5057775"/>
            <a:ext cx="2095500" cy="977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>
                <a:solidFill>
                  <a:srgbClr val="D4D4D4"/>
                </a:solidFill>
                <a:latin typeface="Arial"/>
                <a:ea typeface="Arial"/>
                <a:cs typeface="Arial"/>
                <a:sym typeface="Arial"/>
              </a:rPr>
              <a:t>Concept, regole, carte, database, sitemap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3429000" y="3048000"/>
            <a:ext cx="190500" cy="190500"/>
            <a:chOff x="0" y="0"/>
            <a:chExt cx="254000" cy="254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4000" cy="254000"/>
            </a:xfrm>
            <a:custGeom>
              <a:avLst/>
              <a:gdLst/>
              <a:ahLst/>
              <a:cxnLst/>
              <a:rect r="r" b="b" t="t" l="l"/>
              <a:pathLst>
                <a:path h="254000" w="254000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cubicBezTo>
                    <a:pt x="197104" y="0"/>
                    <a:pt x="254000" y="56896"/>
                    <a:pt x="254000" y="127000"/>
                  </a:cubicBezTo>
                  <a:cubicBezTo>
                    <a:pt x="254000" y="197104"/>
                    <a:pt x="197104" y="254000"/>
                    <a:pt x="127000" y="254000"/>
                  </a:cubicBezTo>
                  <a:cubicBezTo>
                    <a:pt x="56896" y="254000"/>
                    <a:pt x="0" y="197104"/>
                    <a:pt x="0" y="127000"/>
                  </a:cubicBezTo>
                  <a:close/>
                </a:path>
              </a:pathLst>
            </a:custGeom>
            <a:solidFill>
              <a:srgbClr val="6E6A85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3238500" y="3609975"/>
            <a:ext cx="1152849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E9E7F2"/>
                </a:solidFill>
                <a:latin typeface="Arial Bold"/>
                <a:ea typeface="Arial Bold"/>
                <a:cs typeface="Arial Bold"/>
                <a:sym typeface="Arial Bold"/>
              </a:rPr>
              <a:t>Sprint 3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238500" y="4000500"/>
            <a:ext cx="1217647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B9B9B9"/>
                </a:solidFill>
                <a:latin typeface="Arial"/>
                <a:ea typeface="Arial"/>
                <a:cs typeface="Arial"/>
                <a:sym typeface="Arial"/>
              </a:rPr>
              <a:t>02 – 08/11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238500" y="4552950"/>
            <a:ext cx="851354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E9E7F2"/>
                </a:solidFill>
                <a:latin typeface="Georgia"/>
                <a:ea typeface="Georgia"/>
                <a:cs typeface="Georgia"/>
                <a:sym typeface="Georgia"/>
              </a:rPr>
              <a:t>Basi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238500" y="5057775"/>
            <a:ext cx="2095500" cy="680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>
                <a:solidFill>
                  <a:srgbClr val="D4D4D4"/>
                </a:solidFill>
                <a:latin typeface="Arial"/>
                <a:ea typeface="Arial"/>
                <a:cs typeface="Arial"/>
                <a:sym typeface="Arial"/>
              </a:rPr>
              <a:t>Progetti, accesso, motore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5810250" y="3048000"/>
            <a:ext cx="190500" cy="190500"/>
            <a:chOff x="0" y="0"/>
            <a:chExt cx="254000" cy="254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54000" cy="254000"/>
            </a:xfrm>
            <a:custGeom>
              <a:avLst/>
              <a:gdLst/>
              <a:ahLst/>
              <a:cxnLst/>
              <a:rect r="r" b="b" t="t" l="l"/>
              <a:pathLst>
                <a:path h="254000" w="254000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cubicBezTo>
                    <a:pt x="197104" y="0"/>
                    <a:pt x="254000" y="56896"/>
                    <a:pt x="254000" y="127000"/>
                  </a:cubicBezTo>
                  <a:cubicBezTo>
                    <a:pt x="254000" y="197104"/>
                    <a:pt x="197104" y="254000"/>
                    <a:pt x="127000" y="254000"/>
                  </a:cubicBezTo>
                  <a:cubicBezTo>
                    <a:pt x="56896" y="254000"/>
                    <a:pt x="0" y="197104"/>
                    <a:pt x="0" y="127000"/>
                  </a:cubicBezTo>
                  <a:close/>
                </a:path>
              </a:pathLst>
            </a:custGeom>
            <a:solidFill>
              <a:srgbClr val="6E6A85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5619750" y="3609975"/>
            <a:ext cx="1152849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E9E7F2"/>
                </a:solidFill>
                <a:latin typeface="Arial Bold"/>
                <a:ea typeface="Arial Bold"/>
                <a:cs typeface="Arial Bold"/>
                <a:sym typeface="Arial Bold"/>
              </a:rPr>
              <a:t>Sprint 4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619750" y="4000500"/>
            <a:ext cx="1217647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B9B9B9"/>
                </a:solidFill>
                <a:latin typeface="Arial"/>
                <a:ea typeface="Arial"/>
                <a:cs typeface="Arial"/>
                <a:sym typeface="Arial"/>
              </a:rPr>
              <a:t>09 – 15/11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619750" y="4552950"/>
            <a:ext cx="1532296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E9E7F2"/>
                </a:solidFill>
                <a:latin typeface="Georgia"/>
                <a:ea typeface="Georgia"/>
                <a:cs typeface="Georgia"/>
                <a:sym typeface="Georgia"/>
              </a:rPr>
              <a:t>Catalogo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619750" y="5057775"/>
            <a:ext cx="2095500" cy="680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>
                <a:solidFill>
                  <a:srgbClr val="D4D4D4"/>
                </a:solidFill>
                <a:latin typeface="Arial"/>
                <a:ea typeface="Arial"/>
                <a:cs typeface="Arial"/>
                <a:sym typeface="Arial"/>
              </a:rPr>
              <a:t>Pacchetti, collezione, mazzi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8153400" y="3009900"/>
            <a:ext cx="266700" cy="266700"/>
            <a:chOff x="0" y="0"/>
            <a:chExt cx="355600" cy="3556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55600" cy="355600"/>
            </a:xfrm>
            <a:custGeom>
              <a:avLst/>
              <a:gdLst/>
              <a:ahLst/>
              <a:cxnLst/>
              <a:rect r="r" b="b" t="t" l="l"/>
              <a:pathLst>
                <a:path h="355600" w="355600">
                  <a:moveTo>
                    <a:pt x="0" y="177800"/>
                  </a:moveTo>
                  <a:cubicBezTo>
                    <a:pt x="0" y="79629"/>
                    <a:pt x="79629" y="0"/>
                    <a:pt x="177800" y="0"/>
                  </a:cubicBezTo>
                  <a:cubicBezTo>
                    <a:pt x="275971" y="0"/>
                    <a:pt x="355600" y="79629"/>
                    <a:pt x="355600" y="177800"/>
                  </a:cubicBezTo>
                  <a:cubicBezTo>
                    <a:pt x="355600" y="275971"/>
                    <a:pt x="275971" y="355600"/>
                    <a:pt x="177800" y="355600"/>
                  </a:cubicBezTo>
                  <a:cubicBezTo>
                    <a:pt x="79629" y="355600"/>
                    <a:pt x="0" y="275971"/>
                    <a:pt x="0" y="177800"/>
                  </a:cubicBezTo>
                  <a:close/>
                </a:path>
              </a:pathLst>
            </a:custGeom>
            <a:solidFill>
              <a:srgbClr val="B2A0DE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8001000" y="3609975"/>
            <a:ext cx="1152849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BCA4EE"/>
                </a:solidFill>
                <a:latin typeface="Arial Bold"/>
                <a:ea typeface="Arial Bold"/>
                <a:cs typeface="Arial Bold"/>
                <a:sym typeface="Arial Bold"/>
              </a:rPr>
              <a:t>Sprint 5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001000" y="4000500"/>
            <a:ext cx="1217647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B9B9B9"/>
                </a:solidFill>
                <a:latin typeface="Arial"/>
                <a:ea typeface="Arial"/>
                <a:cs typeface="Arial"/>
                <a:sym typeface="Arial"/>
              </a:rPr>
              <a:t>16 – 22/11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001000" y="4552950"/>
            <a:ext cx="1155744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E9E7F2"/>
                </a:solidFill>
                <a:latin typeface="Georgia"/>
                <a:ea typeface="Georgia"/>
                <a:cs typeface="Georgia"/>
                <a:sym typeface="Georgia"/>
              </a:rPr>
              <a:t>Effetti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001000" y="5057775"/>
            <a:ext cx="2095500" cy="680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>
                <a:solidFill>
                  <a:srgbClr val="D4D4D4"/>
                </a:solidFill>
                <a:latin typeface="Arial"/>
                <a:ea typeface="Arial"/>
                <a:cs typeface="Arial"/>
                <a:sym typeface="Arial"/>
              </a:rPr>
              <a:t>Effetti, test, editor · SAL 23/11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0572750" y="3048000"/>
            <a:ext cx="190500" cy="190500"/>
            <a:chOff x="0" y="0"/>
            <a:chExt cx="254000" cy="254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54000" cy="254000"/>
            </a:xfrm>
            <a:custGeom>
              <a:avLst/>
              <a:gdLst/>
              <a:ahLst/>
              <a:cxnLst/>
              <a:rect r="r" b="b" t="t" l="l"/>
              <a:pathLst>
                <a:path h="254000" w="254000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cubicBezTo>
                    <a:pt x="197104" y="0"/>
                    <a:pt x="254000" y="56896"/>
                    <a:pt x="254000" y="127000"/>
                  </a:cubicBezTo>
                  <a:cubicBezTo>
                    <a:pt x="254000" y="197104"/>
                    <a:pt x="197104" y="254000"/>
                    <a:pt x="127000" y="254000"/>
                  </a:cubicBezTo>
                  <a:cubicBezTo>
                    <a:pt x="56896" y="254000"/>
                    <a:pt x="0" y="197104"/>
                    <a:pt x="0" y="127000"/>
                  </a:cubicBezTo>
                  <a:close/>
                </a:path>
              </a:pathLst>
            </a:custGeom>
            <a:solidFill>
              <a:srgbClr val="6E6A85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10382250" y="3609975"/>
            <a:ext cx="1152849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E9E7F2"/>
                </a:solidFill>
                <a:latin typeface="Arial Bold"/>
                <a:ea typeface="Arial Bold"/>
                <a:cs typeface="Arial Bold"/>
                <a:sym typeface="Arial Bold"/>
              </a:rPr>
              <a:t>Sprint 6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382250" y="4000500"/>
            <a:ext cx="1217647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B9B9B9"/>
                </a:solidFill>
                <a:latin typeface="Arial"/>
                <a:ea typeface="Arial"/>
                <a:cs typeface="Arial"/>
                <a:sym typeface="Arial"/>
              </a:rPr>
              <a:t>23 – 29/11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382250" y="4552950"/>
            <a:ext cx="2333625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40"/>
              </a:lnSpc>
              <a:spcBef>
                <a:spcPct val="0"/>
              </a:spcBef>
            </a:pPr>
            <a:r>
              <a:rPr lang="en-US" sz="2700" strike="noStrike" u="none">
                <a:solidFill>
                  <a:srgbClr val="E9E7F2"/>
                </a:solidFill>
                <a:latin typeface="Georgia"/>
                <a:ea typeface="Georgia"/>
                <a:cs typeface="Georgia"/>
                <a:sym typeface="Georgia"/>
              </a:rPr>
              <a:t>Scambi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382250" y="5057775"/>
            <a:ext cx="2095500" cy="708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8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D4D4D4"/>
                </a:solidFill>
                <a:latin typeface="Arial"/>
                <a:ea typeface="Arial"/>
                <a:cs typeface="Arial"/>
                <a:sym typeface="Arial"/>
              </a:rPr>
              <a:t>Amici, scambi, sfide e rank con le leghe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2954000" y="3048000"/>
            <a:ext cx="190500" cy="190500"/>
            <a:chOff x="0" y="0"/>
            <a:chExt cx="254000" cy="2540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54000" cy="254000"/>
            </a:xfrm>
            <a:custGeom>
              <a:avLst/>
              <a:gdLst/>
              <a:ahLst/>
              <a:cxnLst/>
              <a:rect r="r" b="b" t="t" l="l"/>
              <a:pathLst>
                <a:path h="254000" w="254000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cubicBezTo>
                    <a:pt x="197104" y="0"/>
                    <a:pt x="254000" y="56896"/>
                    <a:pt x="254000" y="127000"/>
                  </a:cubicBezTo>
                  <a:cubicBezTo>
                    <a:pt x="254000" y="197104"/>
                    <a:pt x="197104" y="254000"/>
                    <a:pt x="127000" y="254000"/>
                  </a:cubicBezTo>
                  <a:cubicBezTo>
                    <a:pt x="56896" y="254000"/>
                    <a:pt x="0" y="197104"/>
                    <a:pt x="0" y="127000"/>
                  </a:cubicBezTo>
                  <a:close/>
                </a:path>
              </a:pathLst>
            </a:custGeom>
            <a:solidFill>
              <a:srgbClr val="6E6A85"/>
            </a:solid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12763500" y="3609975"/>
            <a:ext cx="1152849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E9E7F2"/>
                </a:solidFill>
                <a:latin typeface="Arial Bold"/>
                <a:ea typeface="Arial Bold"/>
                <a:cs typeface="Arial Bold"/>
                <a:sym typeface="Arial Bold"/>
              </a:rPr>
              <a:t>Sprint 7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763500" y="4000500"/>
            <a:ext cx="1535440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B9B9B9"/>
                </a:solidFill>
                <a:latin typeface="Arial"/>
                <a:ea typeface="Arial"/>
                <a:cs typeface="Arial"/>
                <a:sym typeface="Arial"/>
              </a:rPr>
              <a:t>30/11 – 05/12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763500" y="4552950"/>
            <a:ext cx="1690688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E9E7F2"/>
                </a:solidFill>
                <a:latin typeface="Georgia"/>
                <a:ea typeface="Georgia"/>
                <a:cs typeface="Georgia"/>
                <a:sym typeface="Georgia"/>
              </a:rPr>
              <a:t>Rifinitura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763500" y="5057775"/>
            <a:ext cx="2095500" cy="680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>
                <a:solidFill>
                  <a:srgbClr val="D4D4D4"/>
                </a:solidFill>
                <a:latin typeface="Arial"/>
                <a:ea typeface="Arial"/>
                <a:cs typeface="Arial"/>
                <a:sym typeface="Arial"/>
              </a:rPr>
              <a:t>Backoffice, Swagger, deploy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15297150" y="3009900"/>
            <a:ext cx="266700" cy="266700"/>
            <a:chOff x="0" y="0"/>
            <a:chExt cx="355600" cy="3556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55600" cy="355600"/>
            </a:xfrm>
            <a:custGeom>
              <a:avLst/>
              <a:gdLst/>
              <a:ahLst/>
              <a:cxnLst/>
              <a:rect r="r" b="b" t="t" l="l"/>
              <a:pathLst>
                <a:path h="355600" w="355600">
                  <a:moveTo>
                    <a:pt x="0" y="177800"/>
                  </a:moveTo>
                  <a:cubicBezTo>
                    <a:pt x="0" y="79629"/>
                    <a:pt x="79629" y="0"/>
                    <a:pt x="177800" y="0"/>
                  </a:cubicBezTo>
                  <a:cubicBezTo>
                    <a:pt x="275971" y="0"/>
                    <a:pt x="355600" y="79629"/>
                    <a:pt x="355600" y="177800"/>
                  </a:cubicBezTo>
                  <a:cubicBezTo>
                    <a:pt x="355600" y="275971"/>
                    <a:pt x="275971" y="355600"/>
                    <a:pt x="177800" y="355600"/>
                  </a:cubicBezTo>
                  <a:cubicBezTo>
                    <a:pt x="79629" y="355600"/>
                    <a:pt x="0" y="275971"/>
                    <a:pt x="0" y="177800"/>
                  </a:cubicBezTo>
                  <a:close/>
                </a:path>
              </a:pathLst>
            </a:custGeom>
            <a:solidFill>
              <a:srgbClr val="B2A0DE"/>
            </a:solidFill>
          </p:spPr>
        </p:sp>
      </p:grpSp>
      <p:sp>
        <p:nvSpPr>
          <p:cNvPr name="TextBox 43" id="43"/>
          <p:cNvSpPr txBox="true"/>
          <p:nvPr/>
        </p:nvSpPr>
        <p:spPr>
          <a:xfrm rot="0">
            <a:off x="15144750" y="3609975"/>
            <a:ext cx="1152849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BCA4EE"/>
                </a:solidFill>
                <a:latin typeface="Arial Bold"/>
                <a:ea typeface="Arial Bold"/>
                <a:cs typeface="Arial Bold"/>
                <a:sym typeface="Arial Bold"/>
              </a:rPr>
              <a:t>Sprint 8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5144750" y="4000500"/>
            <a:ext cx="1217647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B9B9B9"/>
                </a:solidFill>
                <a:latin typeface="Arial"/>
                <a:ea typeface="Arial"/>
                <a:cs typeface="Arial"/>
                <a:sym typeface="Arial"/>
              </a:rPr>
              <a:t>06 – 10/12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5144750" y="4552950"/>
            <a:ext cx="1677295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E9E7F2"/>
                </a:solidFill>
                <a:latin typeface="Georgia"/>
                <a:ea typeface="Georgia"/>
                <a:cs typeface="Georgia"/>
                <a:sym typeface="Georgia"/>
              </a:rPr>
              <a:t>Consegna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5144750" y="5057775"/>
            <a:ext cx="2095500" cy="680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>
                <a:solidFill>
                  <a:srgbClr val="D4D4D4"/>
                </a:solidFill>
                <a:latin typeface="Arial"/>
                <a:ea typeface="Arial"/>
                <a:cs typeface="Arial"/>
                <a:sym typeface="Arial"/>
              </a:rPr>
              <a:t>Prove, demo, consegna il 10/12</a:t>
            </a:r>
          </a:p>
        </p:txBody>
      </p:sp>
      <p:sp>
        <p:nvSpPr>
          <p:cNvPr name="AutoShape 47" id="47"/>
          <p:cNvSpPr/>
          <p:nvPr/>
        </p:nvSpPr>
        <p:spPr>
          <a:xfrm>
            <a:off x="857250" y="7620000"/>
            <a:ext cx="16573500" cy="0"/>
          </a:xfrm>
          <a:prstGeom prst="line">
            <a:avLst/>
          </a:prstGeom>
          <a:ln cap="rnd" w="19050">
            <a:solidFill>
              <a:srgbClr val="34323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8" id="48"/>
          <p:cNvSpPr txBox="true"/>
          <p:nvPr/>
        </p:nvSpPr>
        <p:spPr>
          <a:xfrm rot="0">
            <a:off x="857250" y="7981950"/>
            <a:ext cx="1657350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00"/>
              </a:lnSpc>
              <a:spcBef>
                <a:spcPct val="0"/>
              </a:spcBef>
            </a:pPr>
            <a:r>
              <a:rPr lang="en-US" sz="2250" strike="noStrike" u="none">
                <a:solidFill>
                  <a:srgbClr val="D4D4D4"/>
                </a:solidFill>
                <a:latin typeface="Arial"/>
                <a:ea typeface="Arial"/>
                <a:cs typeface="Arial"/>
                <a:sym typeface="Arial"/>
              </a:rPr>
              <a:t>73 issue sulla board · SWD 25 · WMD 23 · DGS 14 · Comuni 11 · ognuna con responsabile, priorità e sprint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857250" y="8763000"/>
            <a:ext cx="1657350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60"/>
              </a:lnSpc>
              <a:spcBef>
                <a:spcPct val="0"/>
              </a:spcBef>
            </a:pPr>
            <a:r>
              <a:rPr lang="en-US" sz="3300" strike="noStrike" u="none">
                <a:solidFill>
                  <a:srgbClr val="E9E7F2"/>
                </a:solidFill>
                <a:latin typeface="Georgia"/>
                <a:ea typeface="Georgia"/>
                <a:cs typeface="Georgia"/>
                <a:sym typeface="Georgia"/>
              </a:rPr>
              <a:t>Una issue per attività, un branch e una pull request rivista per ognuna.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La nostra board"/>
          <p:cNvSpPr/>
          <p:nvPr/>
        </p:nvSpPr>
        <p:spPr>
          <a:xfrm flipH="false" flipV="false" rot="0">
            <a:off x="857250" y="723900"/>
            <a:ext cx="4998720" cy="881062"/>
          </a:xfrm>
          <a:custGeom>
            <a:avLst/>
            <a:gdLst/>
            <a:ahLst/>
            <a:cxnLst/>
            <a:rect r="r" b="b" t="t" l="l"/>
            <a:pathLst>
              <a:path h="881062" w="4998720">
                <a:moveTo>
                  <a:pt x="0" y="0"/>
                </a:moveTo>
                <a:lnTo>
                  <a:pt x="4998720" y="0"/>
                </a:lnTo>
                <a:lnTo>
                  <a:pt x="4998720" y="881062"/>
                </a:lnTo>
                <a:lnTo>
                  <a:pt x="0" y="8810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" id="3" descr="73 issue in 8 sprint: ognuna ha team, responsabile, priorità e sprint"/>
          <p:cNvSpPr/>
          <p:nvPr/>
        </p:nvSpPr>
        <p:spPr>
          <a:xfrm flipH="false" flipV="false" rot="0">
            <a:off x="857250" y="1733550"/>
            <a:ext cx="9813607" cy="404812"/>
          </a:xfrm>
          <a:custGeom>
            <a:avLst/>
            <a:gdLst/>
            <a:ahLst/>
            <a:cxnLst/>
            <a:rect r="r" b="b" t="t" l="l"/>
            <a:pathLst>
              <a:path h="404812" w="9813607">
                <a:moveTo>
                  <a:pt x="0" y="0"/>
                </a:moveTo>
                <a:lnTo>
                  <a:pt x="9813607" y="0"/>
                </a:lnTo>
                <a:lnTo>
                  <a:pt x="9813607" y="404812"/>
                </a:lnTo>
                <a:lnTo>
                  <a:pt x="0" y="4048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 descr="Board Kanban di GitHub Projects con le colonne Backlog, Todo, In Progress, Review e Done"/>
          <p:cNvSpPr/>
          <p:nvPr/>
        </p:nvSpPr>
        <p:spPr>
          <a:xfrm flipH="false" flipV="false" rot="0">
            <a:off x="857250" y="2495550"/>
            <a:ext cx="16573500" cy="6877050"/>
          </a:xfrm>
          <a:custGeom>
            <a:avLst/>
            <a:gdLst/>
            <a:ahLst/>
            <a:cxnLst/>
            <a:rect r="r" b="b" t="t" l="l"/>
            <a:pathLst>
              <a:path h="6877050" w="16573500">
                <a:moveTo>
                  <a:pt x="0" y="0"/>
                </a:moveTo>
                <a:lnTo>
                  <a:pt x="16573500" y="0"/>
                </a:lnTo>
                <a:lnTo>
                  <a:pt x="16573500" y="6877050"/>
                </a:lnTo>
                <a:lnTo>
                  <a:pt x="0" y="68770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6" r="0" b="-6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el-001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4" r="-1024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 descr="el-002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4" r="-909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857250" y="676275"/>
            <a:ext cx="7530951" cy="925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59"/>
              </a:lnSpc>
            </a:pPr>
            <a:r>
              <a:rPr lang="en-US" sz="5550">
                <a:solidFill>
                  <a:srgbClr val="E9E7F2"/>
                </a:solidFill>
                <a:latin typeface="Georgia"/>
                <a:ea typeface="Georgia"/>
                <a:cs typeface="Georgia"/>
                <a:sym typeface="Georgia"/>
              </a:rPr>
              <a:t>Cosa vi chiediamo oggi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57250" y="2276475"/>
            <a:ext cx="322957" cy="340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750"/>
              </a:lnSpc>
              <a:spcBef>
                <a:spcPct val="0"/>
              </a:spcBef>
            </a:pPr>
            <a:r>
              <a:rPr lang="en-US" sz="4500" strike="noStrike" u="none">
                <a:solidFill>
                  <a:srgbClr val="B2A0DE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</a:p>
          <a:p>
            <a:pPr algn="l" marL="0" indent="0" lvl="0">
              <a:lnSpc>
                <a:spcPts val="6750"/>
              </a:lnSpc>
              <a:spcBef>
                <a:spcPct val="0"/>
              </a:spcBef>
            </a:pPr>
            <a:r>
              <a:rPr lang="en-US" sz="4500" strike="noStrike" u="none">
                <a:solidFill>
                  <a:srgbClr val="B2A0DE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</a:p>
          <a:p>
            <a:pPr algn="l" marL="0" indent="0" lvl="0">
              <a:lnSpc>
                <a:spcPts val="6750"/>
              </a:lnSpc>
              <a:spcBef>
                <a:spcPct val="0"/>
              </a:spcBef>
            </a:pPr>
            <a:r>
              <a:rPr lang="en-US" sz="4500" strike="noStrike" u="none">
                <a:solidFill>
                  <a:srgbClr val="B2A0DE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</a:p>
          <a:p>
            <a:pPr algn="l" marL="0" indent="0" lvl="0">
              <a:lnSpc>
                <a:spcPts val="6750"/>
              </a:lnSpc>
              <a:spcBef>
                <a:spcPct val="0"/>
              </a:spcBef>
            </a:pPr>
            <a:r>
              <a:rPr lang="en-US" sz="4500" strike="noStrike" u="none">
                <a:solidFill>
                  <a:srgbClr val="B2A0DE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905000" y="2238375"/>
            <a:ext cx="15240000" cy="3301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748"/>
              </a:lnSpc>
              <a:spcBef>
                <a:spcPct val="0"/>
              </a:spcBef>
            </a:pPr>
            <a:r>
              <a:rPr lang="en-US" sz="2850" strike="noStrike" u="none">
                <a:solidFill>
                  <a:srgbClr val="D4D4D4"/>
                </a:solidFill>
                <a:latin typeface="Arial"/>
                <a:ea typeface="Arial"/>
                <a:cs typeface="Arial"/>
                <a:sym typeface="Arial"/>
              </a:rPr>
              <a:t>Quale proposta di retro delle carte preferite?</a:t>
            </a:r>
          </a:p>
          <a:p>
            <a:pPr algn="l" marL="0" indent="0" lvl="0">
              <a:lnSpc>
                <a:spcPts val="6748"/>
              </a:lnSpc>
              <a:spcBef>
                <a:spcPct val="0"/>
              </a:spcBef>
            </a:pPr>
            <a:r>
              <a:rPr lang="en-US" sz="2850" strike="noStrike" u="none">
                <a:solidFill>
                  <a:srgbClr val="D4D4D4"/>
                </a:solidFill>
                <a:latin typeface="Arial"/>
                <a:ea typeface="Arial"/>
                <a:cs typeface="Arial"/>
                <a:sym typeface="Arial"/>
              </a:rPr>
              <a:t>Partite più tattiche (20 punti vita) o più rapide (10)?</a:t>
            </a:r>
          </a:p>
          <a:p>
            <a:pPr algn="l" marL="0" indent="0" lvl="0">
              <a:lnSpc>
                <a:spcPts val="6748"/>
              </a:lnSpc>
              <a:spcBef>
                <a:spcPct val="0"/>
              </a:spcBef>
            </a:pPr>
            <a:r>
              <a:rPr lang="en-US" sz="2850" strike="noStrike" u="none">
                <a:solidFill>
                  <a:srgbClr val="D4D4D4"/>
                </a:solidFill>
                <a:latin typeface="Arial"/>
                <a:ea typeface="Arial"/>
                <a:cs typeface="Arial"/>
                <a:sym typeface="Arial"/>
              </a:rPr>
              <a:t>Quante carte deve avere il catalogo alla consegna?</a:t>
            </a:r>
          </a:p>
          <a:p>
            <a:pPr algn="l" marL="0" indent="0" lvl="0">
              <a:lnSpc>
                <a:spcPts val="6748"/>
              </a:lnSpc>
              <a:spcBef>
                <a:spcPct val="0"/>
              </a:spcBef>
            </a:pPr>
            <a:r>
              <a:rPr lang="en-US" sz="2850" strike="noStrike" u="none">
                <a:solidFill>
                  <a:srgbClr val="D4D4D4"/>
                </a:solidFill>
                <a:latin typeface="Arial"/>
                <a:ea typeface="Arial"/>
                <a:cs typeface="Arial"/>
                <a:sym typeface="Arial"/>
              </a:rPr>
              <a:t>Come preferite che il giocatore guadagni i crediti?</a:t>
            </a:r>
          </a:p>
        </p:txBody>
      </p:sp>
      <p:sp>
        <p:nvSpPr>
          <p:cNvPr name="AutoShape 9" id="9"/>
          <p:cNvSpPr/>
          <p:nvPr/>
        </p:nvSpPr>
        <p:spPr>
          <a:xfrm>
            <a:off x="857250" y="7239000"/>
            <a:ext cx="16573500" cy="0"/>
          </a:xfrm>
          <a:prstGeom prst="line">
            <a:avLst/>
          </a:prstGeom>
          <a:ln cap="rnd" w="19050">
            <a:solidFill>
              <a:srgbClr val="34323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857250" y="7800975"/>
            <a:ext cx="10852842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>
                <a:solidFill>
                  <a:srgbClr val="E9E7F2"/>
                </a:solidFill>
                <a:latin typeface="Georgia"/>
                <a:ea typeface="Georgia"/>
                <a:cs typeface="Georgia"/>
                <a:sym typeface="Georgia"/>
              </a:rPr>
              <a:t>Grazie. Ora le vostre domande.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DAHZVcQmntM</dc:identifier>
  <dcterms:modified xsi:type="dcterms:W3CDTF">2011-08-01T06:04:30Z</dcterms:modified>
  <cp:revision>1</cp:revision>
  <dc:title>Dreamscape · Colloquio con il cliente</dc:title>
</cp:coreProperties>
</file>